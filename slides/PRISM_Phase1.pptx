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ab276a-77c4-8685-eda9-d56360c2edd6}">
          <p14:sldIdLst>
            <p14:sldId id="256"/>
            <p14:sldId id="257"/>
            <p14:sldId id="258"/>
          </p14:sldIdLst>
        </p14:section>
        <p14:section name="Data and evaluation" id="{e93f3ce3-4a6b-7e0b-9e92-e52a8e40cafd}">
          <p14:sldIdLst>
            <p14:sldId id="259"/>
            <p14:sldId id="260"/>
            <p14:sldId id="261"/>
            <p14:sldId id="262"/>
          </p14:sldIdLst>
        </p14:section>
        <p14:section name="Models" id="{1ddfa5be-ef83-14a3-4d7d-b19ecf0cc3cf}">
          <p14:sldIdLst>
            <p14:sldId id="263"/>
            <p14:sldId id="264"/>
          </p14:sldIdLst>
        </p14:section>
        <p14:section name="Results" id="{31c02b21-0200-8b38-e8c1-38abf8c48a42}">
          <p14:sldIdLst>
            <p14:sldId id="265"/>
            <p14:sldId id="266"/>
            <p14:sldId id="267"/>
            <p14:sldId id="268"/>
            <p14:sldId id="269"/>
          </p14:sldIdLst>
        </p14:section>
        <p14:section name="Conclusion" id="{6055feee-db6c-a5f4-fc1d-9b78d03c5918}">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chemeClr val="tx1"/>
                </a:solidFill>
                <a:latin typeface="+mn-lt"/>
              </a:defRPr>
            </a:pPr>
            <a:r>
              <a:rPr sz="1400" b="1" i="0" u="none" strike="noStrike">
                <a:solidFill>
                  <a:schemeClr val="tx1"/>
                </a:solidFill>
                <a:latin typeface="+mn-lt"/>
              </a:rPr>
              <a:t>Sampled series per Syntetos–Boylan class</a:t>
            </a:r>
          </a:p>
        </c:rich>
      </c:tx>
      <c:layout/>
      <c:overlay val="0"/>
    </c:title>
    <c:autoTitleDeleted val="0"/>
    <c:plotArea>
      <c:layout/>
      <c:barChart>
        <c:barDir val="col"/>
        <c:grouping val="clustered"/>
        <c:varyColors val="0"/>
        <c:ser>
          <c:idx val="0"/>
          <c:order val="0"/>
          <c:tx>
            <c:strRef>
              <c:f>Sheet1!$B$1</c:f>
              <c:strCache>
                <c:ptCount val="1"/>
                <c:pt idx="0">
                  <c:v>Series</c:v>
                </c:pt>
              </c:strCache>
            </c:strRef>
          </c:tx>
          <c:spPr>
            <a:solidFill>
              <a:srgbClr val="2A78D6"/>
            </a:solidFill>
            <a:effectLst/>
          </c:spPr>
          <c:invertIfNegative val="0"/>
          <c:dLbls>
            <c:numFmt formatCode="#,##0" sourceLinked="0"/>
            <c:txPr>
              <a:bodyPr/>
              <a:lstStyle/>
              <a:p>
                <a:pPr>
                  <a:defRPr b="0" i="0" strike="noStrike" sz="1100" u="none">
                    <a:solidFill>
                      <a:schemeClr val="tx2"/>
                    </a:solidFill>
                    <a:latin typeface="+mn-lt"/>
                  </a:defRPr>
                </a:pPr>
              </a:p>
            </c:txPr>
            <c:showLegendKey val="0"/>
            <c:showVal val="1"/>
            <c:showCatName val="0"/>
            <c:showSerName val="0"/>
            <c:showPercent val="0"/>
            <c:showBubbleSize val="0"/>
            <c:showLeaderLines val="0"/>
          </c:dLbls>
          <c:cat>
            <c:multiLvlStrRef>
              <c:f>Sheet1!$A$2:$A$5</c:f>
              <c:multiLvlStrCache>
                <c:ptCount val="4"/>
                <c:lvl>
                  <c:pt idx="0">
                    <c:v>Smooth</c:v>
                  </c:pt>
                  <c:pt idx="1">
                    <c:v>Erratic</c:v>
                  </c:pt>
                  <c:pt idx="2">
                    <c:v>Intermittent</c:v>
                  </c:pt>
                  <c:pt idx="3">
                    <c:v>Lumpy</c:v>
                  </c:pt>
                </c:lvl>
              </c:multiLvlStrCache>
            </c:multiLvlStrRef>
          </c:cat>
          <c:val>
            <c:numRef>
              <c:f>Sheet1!$B$2:$B$5</c:f>
              <c:numCache>
                <c:formatCode>General</c:formatCode>
                <c:ptCount val="4"/>
                <c:pt idx="0">
                  <c:v>325</c:v>
                </c:pt>
                <c:pt idx="1">
                  <c:v>221</c:v>
                </c:pt>
                <c:pt idx="2">
                  <c:v>482</c:v>
                </c:pt>
                <c:pt idx="3">
                  <c:v>469</c:v>
                </c:pt>
              </c:numCache>
            </c:numRef>
          </c:val>
        </c:ser>
        <c:dLbls>
          <c:numFmt formatCode="#,##0" sourceLinked="0"/>
          <c:txPr>
            <a:bodyPr/>
            <a:lstStyle/>
            <a:p>
              <a:pPr>
                <a:defRPr b="0" i="0" strike="noStrike" sz="1100" u="none">
                  <a:solidFill>
                    <a:schemeClr val="tx2"/>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6D4CE"/>
            </a:solid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chemeClr val="tx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chemeClr val="tx1"/>
                </a:solidFill>
                <a:latin typeface="+mn-lt"/>
              </a:defRPr>
            </a:pPr>
            <a:r>
              <a:rPr sz="1400" b="1" i="0" u="none" strike="noStrike">
                <a:solidFill>
                  <a:schemeClr val="tx1"/>
                </a:solidFill>
                <a:latin typeface="+mn-lt"/>
              </a:rPr>
              <a:t>Sales by weekday (1 = average)</a:t>
            </a:r>
          </a:p>
        </c:rich>
      </c:tx>
      <c:layout/>
      <c:overlay val="0"/>
    </c:title>
    <c:autoTitleDeleted val="0"/>
    <c:plotArea>
      <c:layout/>
      <c:barChart>
        <c:barDir val="col"/>
        <c:grouping val="clustered"/>
        <c:varyColors val="0"/>
        <c:ser>
          <c:idx val="0"/>
          <c:order val="0"/>
          <c:tx>
            <c:strRef>
              <c:f>Sheet1!$B$1</c:f>
              <c:strCache>
                <c:ptCount val="1"/>
                <c:pt idx="0">
                  <c:v>Index</c:v>
                </c:pt>
              </c:strCache>
            </c:strRef>
          </c:tx>
          <c:spPr>
            <a:solidFill>
              <a:srgbClr val="2A78D6"/>
            </a:solidFill>
            <a:effectLst/>
          </c:spPr>
          <c:invertIfNegative val="0"/>
          <c:dLbls>
            <c:numFmt formatCode="0.00" sourceLinked="0"/>
            <c:txPr>
              <a:bodyPr/>
              <a:lstStyle/>
              <a:p>
                <a:pPr>
                  <a:defRPr b="0" i="0" strike="noStrike" sz="1100" u="none">
                    <a:solidFill>
                      <a:schemeClr val="tx2"/>
                    </a:solidFill>
                    <a:latin typeface="+mn-lt"/>
                  </a:defRPr>
                </a:pPr>
              </a:p>
            </c:txPr>
            <c:showLegendKey val="0"/>
            <c:showVal val="1"/>
            <c:showCatName val="0"/>
            <c:showSerName val="0"/>
            <c:showPercent val="0"/>
            <c:showBubbleSize val="0"/>
            <c:showLeaderLines val="0"/>
          </c:dLbls>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Sheet1!$B$2:$B$8</c:f>
              <c:numCache>
                <c:formatCode>General</c:formatCode>
                <c:ptCount val="7"/>
                <c:pt idx="0">
                  <c:v>0.928</c:v>
                </c:pt>
                <c:pt idx="1">
                  <c:v>0.855</c:v>
                </c:pt>
                <c:pt idx="2">
                  <c:v>0.851</c:v>
                </c:pt>
                <c:pt idx="3">
                  <c:v>0.856</c:v>
                </c:pt>
                <c:pt idx="4">
                  <c:v>1.01</c:v>
                </c:pt>
                <c:pt idx="5">
                  <c:v>1.267</c:v>
                </c:pt>
                <c:pt idx="6">
                  <c:v>1.233</c:v>
                </c:pt>
              </c:numCache>
            </c:numRef>
          </c:val>
        </c:ser>
        <c:dLbls>
          <c:numFmt formatCode="0.00" sourceLinked="0"/>
          <c:txPr>
            <a:bodyPr/>
            <a:lstStyle/>
            <a:p>
              <a:pPr>
                <a:defRPr b="0" i="0" strike="noStrike" sz="1100" u="none">
                  <a:solidFill>
                    <a:schemeClr val="tx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6D4CE"/>
            </a:solid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catAx>
      <c:valAx>
        <c:axId val="2094734552"/>
        <c:scaling>
          <c:orientation val="minMax"/>
          <c:max val="1.4"/>
          <c:min val="0.6"/>
        </c:scaling>
        <c:delete val="0"/>
        <c:axPos val="l"/>
        <c:majorGridlines>
          <c:spPr>
            <a:ln w="9525" cap="flat">
              <a:solidFill>
                <a:srgbClr val="E4E3DF"/>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chemeClr val="tx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chemeClr val="tx1"/>
                </a:solidFill>
                <a:latin typeface="+mn-lt"/>
              </a:defRPr>
            </a:pPr>
            <a:r>
              <a:rPr sz="1400" b="1" i="0" u="none" strike="noStrike">
                <a:solidFill>
                  <a:schemeClr val="tx1"/>
                </a:solidFill>
                <a:latin typeface="+mn-lt"/>
              </a:rPr>
              <a:t>Sales by month (1 = average)</a:t>
            </a:r>
          </a:p>
        </c:rich>
      </c:tx>
      <c:layout/>
      <c:overlay val="0"/>
    </c:title>
    <c:autoTitleDeleted val="0"/>
    <c:plotArea>
      <c:layout/>
      <c:barChart>
        <c:barDir val="col"/>
        <c:grouping val="clustered"/>
        <c:varyColors val="0"/>
        <c:ser>
          <c:idx val="0"/>
          <c:order val="0"/>
          <c:tx>
            <c:strRef>
              <c:f>Sheet1!$B$1</c:f>
              <c:strCache>
                <c:ptCount val="1"/>
                <c:pt idx="0">
                  <c:v>Index</c:v>
                </c:pt>
              </c:strCache>
            </c:strRef>
          </c:tx>
          <c:spPr>
            <a:solidFill>
              <a:srgbClr val="2A78D6"/>
            </a:solidFill>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cat>
            <c:multiLvlStrRef>
              <c:f>Sheet1!$A$2:$A$13</c:f>
              <c:multiLvlStrCache>
                <c:ptCount val="12"/>
                <c:lvl>
                  <c:pt idx="0">
                    <c:v>J</c:v>
                  </c:pt>
                  <c:pt idx="1">
                    <c:v>F</c:v>
                  </c:pt>
                  <c:pt idx="2">
                    <c:v>M</c:v>
                  </c:pt>
                  <c:pt idx="3">
                    <c:v>A</c:v>
                  </c:pt>
                  <c:pt idx="4">
                    <c:v>M</c:v>
                  </c:pt>
                  <c:pt idx="5">
                    <c:v>J</c:v>
                  </c:pt>
                  <c:pt idx="6">
                    <c:v>J</c:v>
                  </c:pt>
                  <c:pt idx="7">
                    <c:v>A</c:v>
                  </c:pt>
                  <c:pt idx="8">
                    <c:v>S</c:v>
                  </c:pt>
                  <c:pt idx="9">
                    <c:v>O</c:v>
                  </c:pt>
                  <c:pt idx="10">
                    <c:v>N</c:v>
                  </c:pt>
                  <c:pt idx="11">
                    <c:v>D</c:v>
                  </c:pt>
                </c:lvl>
              </c:multiLvlStrCache>
            </c:multiLvlStrRef>
          </c:cat>
          <c:val>
            <c:numRef>
              <c:f>Sheet1!$B$2:$B$13</c:f>
              <c:numCache>
                <c:formatCode>General</c:formatCode>
                <c:ptCount val="12"/>
                <c:pt idx="0">
                  <c:v>0.957</c:v>
                </c:pt>
                <c:pt idx="1">
                  <c:v>0.979</c:v>
                </c:pt>
                <c:pt idx="2">
                  <c:v>1.006</c:v>
                </c:pt>
                <c:pt idx="3">
                  <c:v>1.022</c:v>
                </c:pt>
                <c:pt idx="4">
                  <c:v>1.013</c:v>
                </c:pt>
                <c:pt idx="5">
                  <c:v>1.06</c:v>
                </c:pt>
                <c:pt idx="6">
                  <c:v>1.056</c:v>
                </c:pt>
                <c:pt idx="7">
                  <c:v>1.06</c:v>
                </c:pt>
                <c:pt idx="8">
                  <c:v>0.999</c:v>
                </c:pt>
                <c:pt idx="9">
                  <c:v>0.957</c:v>
                </c:pt>
                <c:pt idx="10">
                  <c:v>0.935</c:v>
                </c:pt>
                <c:pt idx="11">
                  <c:v>0.956</c:v>
                </c:pt>
              </c:numCache>
            </c:numRef>
          </c:val>
        </c:ser>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6D4CE"/>
            </a:solid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catAx>
      <c:valAx>
        <c:axId val="2094734552"/>
        <c:scaling>
          <c:orientation val="minMax"/>
          <c:max val="1.4"/>
          <c:min val="0.6"/>
        </c:scaling>
        <c:delete val="0"/>
        <c:axPos val="l"/>
        <c:majorGridlines>
          <c:spPr>
            <a:ln w="9525" cap="flat">
              <a:solidFill>
                <a:srgbClr val="E4E3DF"/>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chemeClr val="tx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chemeClr val="tx1"/>
                </a:solidFill>
                <a:latin typeface="+mn-lt"/>
              </a:defRPr>
            </a:pPr>
            <a:r>
              <a:rPr sz="1400" b="1" i="0" u="none" strike="noStrike">
                <a:solidFill>
                  <a:schemeClr val="tx1"/>
                </a:solidFill>
                <a:latin typeface="+mn-lt"/>
              </a:rPr>
              <a:t>Point accuracy: WAPE (lower is better)</a:t>
            </a:r>
          </a:p>
        </c:rich>
      </c:tx>
      <c:layout/>
      <c:overlay val="0"/>
    </c:title>
    <c:autoTitleDeleted val="0"/>
    <c:plotArea>
      <c:layout/>
      <c:lineChart>
        <c:varyColors val="0"/>
        <c:ser>
          <c:idx val="0"/>
          <c:order val="0"/>
          <c:tx>
            <c:strRef>
              <c:f>Sheet1!$B$1</c:f>
              <c:strCache>
                <c:ptCount val="1"/>
                <c:pt idx="0">
                  <c:v>Seasonal naive</c:v>
                </c:pt>
              </c:strCache>
            </c:strRef>
          </c:tx>
          <c:spPr>
            <a:solidFill>
              <a:srgbClr val="9A9994"/>
            </a:solidFill>
            <a:ln w="25400" cap="flat">
              <a:solidFill>
                <a:srgbClr val="9A9994"/>
              </a:solidFill>
              <a:prstDash val="solid"/>
              <a:round/>
            </a:ln>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marker>
            <c:symbol val="none"/>
            <c:size val="6"/>
            <c:spPr>
              <a:solidFill>
                <a:srgbClr val="9A9994"/>
              </a:solidFill>
              <a:ln w="9525" cap="flat">
                <a:solidFill>
                  <a:srgbClr val="9A9994"/>
                </a:solidFill>
                <a:prstDash val="solid"/>
                <a:round/>
              </a:ln>
              <a:effectLst/>
            </c:spPr>
          </c:marker>
          <c:cat>
            <c:multiLvlStrRef>
              <c:f>Sheet1!$A$2:$A$29</c:f>
              <c:multiLvlStrCache>
                <c:ptCount val="2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lvl>
              </c:multiLvlStrCache>
            </c:multiLvlStrRef>
          </c:cat>
          <c:val>
            <c:numRef>
              <c:f>Sheet1!$B$2:$B$29</c:f>
              <c:numCache>
                <c:formatCode>General</c:formatCode>
                <c:ptCount val="28"/>
                <c:pt idx="0">
                  <c:v>0.7667</c:v>
                </c:pt>
                <c:pt idx="1">
                  <c:v>0.8158</c:v>
                </c:pt>
                <c:pt idx="2">
                  <c:v>0.8146</c:v>
                </c:pt>
                <c:pt idx="3">
                  <c:v>0.8244</c:v>
                </c:pt>
                <c:pt idx="4">
                  <c:v>0.7336</c:v>
                </c:pt>
                <c:pt idx="5">
                  <c:v>0.6446</c:v>
                </c:pt>
                <c:pt idx="6">
                  <c:v>0.6602</c:v>
                </c:pt>
                <c:pt idx="7">
                  <c:v>0.8017</c:v>
                </c:pt>
                <c:pt idx="8">
                  <c:v>0.8023</c:v>
                </c:pt>
                <c:pt idx="9">
                  <c:v>0.8112</c:v>
                </c:pt>
                <c:pt idx="10">
                  <c:v>0.8106</c:v>
                </c:pt>
                <c:pt idx="11">
                  <c:v>0.7317</c:v>
                </c:pt>
                <c:pt idx="12">
                  <c:v>0.6668</c:v>
                </c:pt>
                <c:pt idx="13">
                  <c:v>0.7484</c:v>
                </c:pt>
                <c:pt idx="14">
                  <c:v>0.7639</c:v>
                </c:pt>
                <c:pt idx="15">
                  <c:v>0.8265</c:v>
                </c:pt>
                <c:pt idx="16">
                  <c:v>0.8097</c:v>
                </c:pt>
                <c:pt idx="17">
                  <c:v>0.8404</c:v>
                </c:pt>
                <c:pt idx="18">
                  <c:v>0.7787</c:v>
                </c:pt>
                <c:pt idx="19">
                  <c:v>0.6833</c:v>
                </c:pt>
                <c:pt idx="20">
                  <c:v>0.6883</c:v>
                </c:pt>
                <c:pt idx="21">
                  <c:v>0.8</c:v>
                </c:pt>
                <c:pt idx="22">
                  <c:v>0.8356</c:v>
                </c:pt>
                <c:pt idx="23">
                  <c:v>0.8206</c:v>
                </c:pt>
                <c:pt idx="24">
                  <c:v>0.8476</c:v>
                </c:pt>
                <c:pt idx="25">
                  <c:v>0.7602</c:v>
                </c:pt>
                <c:pt idx="26">
                  <c:v>0.7011</c:v>
                </c:pt>
                <c:pt idx="27">
                  <c:v>0.7078</c:v>
                </c:pt>
              </c:numCache>
            </c:numRef>
          </c:val>
          <c:smooth val="0"/>
        </c:ser>
        <c:ser>
          <c:idx val="1"/>
          <c:order val="1"/>
          <c:tx>
            <c:strRef>
              <c:f>Sheet1!$C$1</c:f>
              <c:strCache>
                <c:ptCount val="1"/>
                <c:pt idx="0">
                  <c:v>TSB</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Sheet1!$A$2:$A$29</c:f>
              <c:multiLvlStrCache>
                <c:ptCount val="2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lvl>
              </c:multiLvlStrCache>
            </c:multiLvlStrRef>
          </c:cat>
          <c:val>
            <c:numRef>
              <c:f>Sheet1!$C$2:$C$29</c:f>
              <c:numCache>
                <c:formatCode>General</c:formatCode>
                <c:ptCount val="28"/>
                <c:pt idx="0">
                  <c:v>0.5916</c:v>
                </c:pt>
                <c:pt idx="1">
                  <c:v>0.6622</c:v>
                </c:pt>
                <c:pt idx="2">
                  <c:v>0.6441</c:v>
                </c:pt>
                <c:pt idx="3">
                  <c:v>0.6301</c:v>
                </c:pt>
                <c:pt idx="4">
                  <c:v>0.5724</c:v>
                </c:pt>
                <c:pt idx="5">
                  <c:v>0.5512</c:v>
                </c:pt>
                <c:pt idx="6">
                  <c:v>0.5675</c:v>
                </c:pt>
                <c:pt idx="7">
                  <c:v>0.615</c:v>
                </c:pt>
                <c:pt idx="8">
                  <c:v>0.6313</c:v>
                </c:pt>
                <c:pt idx="9">
                  <c:v>0.6304</c:v>
                </c:pt>
                <c:pt idx="10">
                  <c:v>0.6243</c:v>
                </c:pt>
                <c:pt idx="11">
                  <c:v>0.5713</c:v>
                </c:pt>
                <c:pt idx="12">
                  <c:v>0.5581</c:v>
                </c:pt>
                <c:pt idx="13">
                  <c:v>0.5711</c:v>
                </c:pt>
                <c:pt idx="14">
                  <c:v>0.591</c:v>
                </c:pt>
                <c:pt idx="15">
                  <c:v>0.6547</c:v>
                </c:pt>
                <c:pt idx="16">
                  <c:v>0.6357</c:v>
                </c:pt>
                <c:pt idx="17">
                  <c:v>0.646</c:v>
                </c:pt>
                <c:pt idx="18">
                  <c:v>0.5701</c:v>
                </c:pt>
                <c:pt idx="19">
                  <c:v>0.549</c:v>
                </c:pt>
                <c:pt idx="20">
                  <c:v>0.5653</c:v>
                </c:pt>
                <c:pt idx="21">
                  <c:v>0.6238</c:v>
                </c:pt>
                <c:pt idx="22">
                  <c:v>0.6609</c:v>
                </c:pt>
                <c:pt idx="23">
                  <c:v>0.659</c:v>
                </c:pt>
                <c:pt idx="24">
                  <c:v>0.6606</c:v>
                </c:pt>
                <c:pt idx="25">
                  <c:v>0.583</c:v>
                </c:pt>
                <c:pt idx="26">
                  <c:v>0.5675</c:v>
                </c:pt>
                <c:pt idx="27">
                  <c:v>0.5719</c:v>
                </c:pt>
              </c:numCache>
            </c:numRef>
          </c:val>
          <c:smooth val="0"/>
        </c:ser>
        <c:ser>
          <c:idx val="2"/>
          <c:order val="2"/>
          <c:tx>
            <c:strRef>
              <c:f>Sheet1!$D$1</c:f>
              <c:strCache>
                <c:ptCount val="1"/>
                <c:pt idx="0">
                  <c:v>Kalman (local)</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Sheet1!$A$2:$A$29</c:f>
              <c:multiLvlStrCache>
                <c:ptCount val="2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lvl>
              </c:multiLvlStrCache>
            </c:multiLvlStrRef>
          </c:cat>
          <c:val>
            <c:numRef>
              <c:f>Sheet1!$D$2:$D$29</c:f>
              <c:numCache>
                <c:formatCode>General</c:formatCode>
                <c:ptCount val="28"/>
                <c:pt idx="0">
                  <c:v>0.5825</c:v>
                </c:pt>
                <c:pt idx="1">
                  <c:v>0.6259</c:v>
                </c:pt>
                <c:pt idx="2">
                  <c:v>0.6212</c:v>
                </c:pt>
                <c:pt idx="3">
                  <c:v>0.6132</c:v>
                </c:pt>
                <c:pt idx="4">
                  <c:v>0.5719</c:v>
                </c:pt>
                <c:pt idx="5">
                  <c:v>0.5199</c:v>
                </c:pt>
                <c:pt idx="6">
                  <c:v>0.5359</c:v>
                </c:pt>
                <c:pt idx="7">
                  <c:v>0.6</c:v>
                </c:pt>
                <c:pt idx="8">
                  <c:v>0.6154</c:v>
                </c:pt>
                <c:pt idx="9">
                  <c:v>0.6154</c:v>
                </c:pt>
                <c:pt idx="10">
                  <c:v>0.6172</c:v>
                </c:pt>
                <c:pt idx="11">
                  <c:v>0.5751</c:v>
                </c:pt>
                <c:pt idx="12">
                  <c:v>0.525</c:v>
                </c:pt>
                <c:pt idx="13">
                  <c:v>0.5557</c:v>
                </c:pt>
                <c:pt idx="14">
                  <c:v>0.5964</c:v>
                </c:pt>
                <c:pt idx="15">
                  <c:v>0.6295</c:v>
                </c:pt>
                <c:pt idx="16">
                  <c:v>0.6175</c:v>
                </c:pt>
                <c:pt idx="17">
                  <c:v>0.6183</c:v>
                </c:pt>
                <c:pt idx="18">
                  <c:v>0.5772</c:v>
                </c:pt>
                <c:pt idx="19">
                  <c:v>0.5344</c:v>
                </c:pt>
                <c:pt idx="20">
                  <c:v>0.5355</c:v>
                </c:pt>
                <c:pt idx="21">
                  <c:v>0.618</c:v>
                </c:pt>
                <c:pt idx="22">
                  <c:v>0.6321</c:v>
                </c:pt>
                <c:pt idx="23">
                  <c:v>0.6302</c:v>
                </c:pt>
                <c:pt idx="24">
                  <c:v>0.6241</c:v>
                </c:pt>
                <c:pt idx="25">
                  <c:v>0.5859</c:v>
                </c:pt>
                <c:pt idx="26">
                  <c:v>0.5459</c:v>
                </c:pt>
                <c:pt idx="27">
                  <c:v>0.5536</c:v>
                </c:pt>
              </c:numCache>
            </c:numRef>
          </c:val>
          <c:smooth val="0"/>
        </c:ser>
        <c:ser>
          <c:idx val="3"/>
          <c:order val="3"/>
          <c:tx>
            <c:strRef>
              <c:f>Sheet1!$E$1</c:f>
              <c:strCache>
                <c:ptCount val="1"/>
                <c:pt idx="0">
                  <c:v>LightGBM (global)</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Sheet1!$A$2:$A$29</c:f>
              <c:multiLvlStrCache>
                <c:ptCount val="2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lvl>
              </c:multiLvlStrCache>
            </c:multiLvlStrRef>
          </c:cat>
          <c:val>
            <c:numRef>
              <c:f>Sheet1!$E$2:$E$29</c:f>
              <c:numCache>
                <c:formatCode>General</c:formatCode>
                <c:ptCount val="28"/>
                <c:pt idx="0">
                  <c:v>0.5744</c:v>
                </c:pt>
                <c:pt idx="1">
                  <c:v>0.621</c:v>
                </c:pt>
                <c:pt idx="2">
                  <c:v>0.6062</c:v>
                </c:pt>
                <c:pt idx="3">
                  <c:v>0.5915</c:v>
                </c:pt>
                <c:pt idx="4">
                  <c:v>0.5569</c:v>
                </c:pt>
                <c:pt idx="5">
                  <c:v>0.5053</c:v>
                </c:pt>
                <c:pt idx="6">
                  <c:v>0.5239</c:v>
                </c:pt>
                <c:pt idx="7">
                  <c:v>0.59</c:v>
                </c:pt>
                <c:pt idx="8">
                  <c:v>0.6034</c:v>
                </c:pt>
                <c:pt idx="9">
                  <c:v>0.6038</c:v>
                </c:pt>
                <c:pt idx="10">
                  <c:v>0.5977</c:v>
                </c:pt>
                <c:pt idx="11">
                  <c:v>0.5654</c:v>
                </c:pt>
                <c:pt idx="12">
                  <c:v>0.53</c:v>
                </c:pt>
                <c:pt idx="13">
                  <c:v>0.5554</c:v>
                </c:pt>
                <c:pt idx="14">
                  <c:v>0.5812</c:v>
                </c:pt>
                <c:pt idx="15">
                  <c:v>0.6093</c:v>
                </c:pt>
                <c:pt idx="16">
                  <c:v>0.5978</c:v>
                </c:pt>
                <c:pt idx="17">
                  <c:v>0.6072</c:v>
                </c:pt>
                <c:pt idx="18">
                  <c:v>0.5612</c:v>
                </c:pt>
                <c:pt idx="19">
                  <c:v>0.5258</c:v>
                </c:pt>
                <c:pt idx="20">
                  <c:v>0.5284</c:v>
                </c:pt>
                <c:pt idx="21">
                  <c:v>0.5966</c:v>
                </c:pt>
                <c:pt idx="22">
                  <c:v>0.6143</c:v>
                </c:pt>
                <c:pt idx="23">
                  <c:v>0.6085</c:v>
                </c:pt>
                <c:pt idx="24">
                  <c:v>0.6044</c:v>
                </c:pt>
                <c:pt idx="25">
                  <c:v>0.5696</c:v>
                </c:pt>
                <c:pt idx="26">
                  <c:v>0.5349</c:v>
                </c:pt>
                <c:pt idx="27">
                  <c:v>0.5336</c:v>
                </c:pt>
              </c:numCache>
            </c:numRef>
          </c:val>
          <c:smooth val="0"/>
        </c:ser>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chemeClr val="tx2"/>
                    </a:solidFill>
                    <a:latin typeface="Arial"/>
                  </a:defRPr>
                </a:pPr>
                <a:r>
                  <a:rPr sz="1200" b="0" i="0" u="none" strike="noStrike">
                    <a:solidFill>
                      <a:schemeClr val="tx2"/>
                    </a:solidFill>
                    <a:latin typeface="Arial"/>
                  </a:rPr>
                  <a:t>Days ahead</a:t>
                </a:r>
              </a:p>
            </c:rich>
          </c:tx>
          <c:layout/>
          <c:overlay val="0"/>
        </c:title>
        <c:numFmt formatCode="General" sourceLinked="1"/>
        <c:majorTickMark val="out"/>
        <c:minorTickMark val="none"/>
        <c:tickLblPos val="low"/>
        <c:spPr>
          <a:ln w="12700" cap="flat">
            <a:solidFill>
              <a:srgbClr val="D6D4CE"/>
            </a:solid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tickLblSkip val="7"/>
      </c:catAx>
      <c:valAx>
        <c:axId val="2094734552"/>
        <c:scaling>
          <c:orientation val="minMax"/>
          <c:max val="0.9"/>
          <c:min val="0.45"/>
        </c:scaling>
        <c:delete val="0"/>
        <c:axPos val="l"/>
        <c:majorGridlines>
          <c:spPr>
            <a:ln w="9525" cap="flat">
              <a:solidFill>
                <a:srgbClr val="E4E3DF"/>
              </a:solidFill>
              <a:prstDash val="solid"/>
              <a:round/>
            </a:ln>
          </c:spPr>
        </c:majorGridlines>
        <c:numFmt formatCode="0.00" sourceLinked="0"/>
        <c:majorTickMark val="out"/>
        <c:minorTickMark val="none"/>
        <c:tickLblPos val="nextTo"/>
        <c:spPr>
          <a:ln w="12700" cap="flat">
            <a:noFill/>
            <a:prstDash val="solid"/>
            <a:round/>
          </a:ln>
        </c:spPr>
        <c:txPr>
          <a:bodyPr/>
          <a:lstStyle/>
          <a:p>
            <a:pPr>
              <a:defRPr sz="1200" b="0" i="0" u="none" strike="noStrike">
                <a:solidFill>
                  <a:schemeClr val="tx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chemeClr val="tx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chemeClr val="tx1"/>
                </a:solidFill>
                <a:latin typeface="+mn-lt"/>
              </a:defRPr>
            </a:pPr>
            <a:r>
              <a:rPr sz="1400" b="1" i="0" u="none" strike="noStrike">
                <a:solidFill>
                  <a:schemeClr val="tx1"/>
                </a:solidFill>
                <a:latin typeface="+mn-lt"/>
              </a:rPr>
              <a:t>Probabilistic accuracy: SPL (lower is better)</a:t>
            </a:r>
          </a:p>
        </c:rich>
      </c:tx>
      <c:layout/>
      <c:overlay val="0"/>
    </c:title>
    <c:autoTitleDeleted val="0"/>
    <c:plotArea>
      <c:layout/>
      <c:lineChart>
        <c:varyColors val="0"/>
        <c:ser>
          <c:idx val="0"/>
          <c:order val="0"/>
          <c:tx>
            <c:strRef>
              <c:f>Sheet1!$B$1</c:f>
              <c:strCache>
                <c:ptCount val="1"/>
                <c:pt idx="0">
                  <c:v>Seasonal naive</c:v>
                </c:pt>
              </c:strCache>
            </c:strRef>
          </c:tx>
          <c:spPr>
            <a:solidFill>
              <a:srgbClr val="9A9994"/>
            </a:solidFill>
            <a:ln w="25400" cap="flat">
              <a:solidFill>
                <a:srgbClr val="9A9994"/>
              </a:solidFill>
              <a:prstDash val="solid"/>
              <a:round/>
            </a:ln>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marker>
            <c:symbol val="none"/>
            <c:size val="6"/>
            <c:spPr>
              <a:solidFill>
                <a:srgbClr val="9A9994"/>
              </a:solidFill>
              <a:ln w="9525" cap="flat">
                <a:solidFill>
                  <a:srgbClr val="9A9994"/>
                </a:solidFill>
                <a:prstDash val="solid"/>
                <a:round/>
              </a:ln>
              <a:effectLst/>
            </c:spPr>
          </c:marker>
          <c:cat>
            <c:multiLvlStrRef>
              <c:f>Sheet1!$A$2:$A$29</c:f>
              <c:multiLvlStrCache>
                <c:ptCount val="2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lvl>
              </c:multiLvlStrCache>
            </c:multiLvlStrRef>
          </c:cat>
          <c:val>
            <c:numRef>
              <c:f>Sheet1!$B$2:$B$29</c:f>
              <c:numCache>
                <c:formatCode>General</c:formatCode>
                <c:ptCount val="28"/>
                <c:pt idx="0">
                  <c:v>0.3215</c:v>
                </c:pt>
                <c:pt idx="1">
                  <c:v>0.3027</c:v>
                </c:pt>
                <c:pt idx="2">
                  <c:v>0.3245</c:v>
                </c:pt>
                <c:pt idx="3">
                  <c:v>0.3212</c:v>
                </c:pt>
                <c:pt idx="4">
                  <c:v>0.3553</c:v>
                </c:pt>
                <c:pt idx="5">
                  <c:v>0.4036</c:v>
                </c:pt>
                <c:pt idx="6">
                  <c:v>0.4072</c:v>
                </c:pt>
                <c:pt idx="7">
                  <c:v>0.3236</c:v>
                </c:pt>
                <c:pt idx="8">
                  <c:v>0.3193</c:v>
                </c:pt>
                <c:pt idx="9">
                  <c:v>0.3206</c:v>
                </c:pt>
                <c:pt idx="10">
                  <c:v>0.3322</c:v>
                </c:pt>
                <c:pt idx="11">
                  <c:v>0.346</c:v>
                </c:pt>
                <c:pt idx="12">
                  <c:v>0.4238</c:v>
                </c:pt>
                <c:pt idx="13">
                  <c:v>0.4049</c:v>
                </c:pt>
                <c:pt idx="14">
                  <c:v>0.3264</c:v>
                </c:pt>
                <c:pt idx="15">
                  <c:v>0.3245</c:v>
                </c:pt>
                <c:pt idx="16">
                  <c:v>0.3385</c:v>
                </c:pt>
                <c:pt idx="17">
                  <c:v>0.3231</c:v>
                </c:pt>
                <c:pt idx="18">
                  <c:v>0.3363</c:v>
                </c:pt>
                <c:pt idx="19">
                  <c:v>0.4067</c:v>
                </c:pt>
                <c:pt idx="20">
                  <c:v>0.4126</c:v>
                </c:pt>
                <c:pt idx="21">
                  <c:v>0.3256</c:v>
                </c:pt>
                <c:pt idx="22">
                  <c:v>0.3281</c:v>
                </c:pt>
                <c:pt idx="23">
                  <c:v>0.3196</c:v>
                </c:pt>
                <c:pt idx="24">
                  <c:v>0.3202</c:v>
                </c:pt>
                <c:pt idx="25">
                  <c:v>0.3559</c:v>
                </c:pt>
                <c:pt idx="26">
                  <c:v>0.4125</c:v>
                </c:pt>
                <c:pt idx="27">
                  <c:v>0.4147</c:v>
                </c:pt>
              </c:numCache>
            </c:numRef>
          </c:val>
          <c:smooth val="0"/>
        </c:ser>
        <c:ser>
          <c:idx val="1"/>
          <c:order val="1"/>
          <c:tx>
            <c:strRef>
              <c:f>Sheet1!$C$1</c:f>
              <c:strCache>
                <c:ptCount val="1"/>
                <c:pt idx="0">
                  <c:v>TSB</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Sheet1!$A$2:$A$29</c:f>
              <c:multiLvlStrCache>
                <c:ptCount val="2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lvl>
              </c:multiLvlStrCache>
            </c:multiLvlStrRef>
          </c:cat>
          <c:val>
            <c:numRef>
              <c:f>Sheet1!$C$2:$C$29</c:f>
              <c:numCache>
                <c:formatCode>General</c:formatCode>
                <c:ptCount val="28"/>
                <c:pt idx="0">
                  <c:v>0.251</c:v>
                </c:pt>
                <c:pt idx="1">
                  <c:v>0.2437</c:v>
                </c:pt>
                <c:pt idx="2">
                  <c:v>0.2547</c:v>
                </c:pt>
                <c:pt idx="3">
                  <c:v>0.2523</c:v>
                </c:pt>
                <c:pt idx="4">
                  <c:v>0.2737</c:v>
                </c:pt>
                <c:pt idx="5">
                  <c:v>0.3204</c:v>
                </c:pt>
                <c:pt idx="6">
                  <c:v>0.3255</c:v>
                </c:pt>
                <c:pt idx="7">
                  <c:v>0.2496</c:v>
                </c:pt>
                <c:pt idx="8">
                  <c:v>0.2528</c:v>
                </c:pt>
                <c:pt idx="9">
                  <c:v>0.2503</c:v>
                </c:pt>
                <c:pt idx="10">
                  <c:v>0.2663</c:v>
                </c:pt>
                <c:pt idx="11">
                  <c:v>0.2718</c:v>
                </c:pt>
                <c:pt idx="12">
                  <c:v>0.3337</c:v>
                </c:pt>
                <c:pt idx="13">
                  <c:v>0.3006</c:v>
                </c:pt>
                <c:pt idx="14">
                  <c:v>0.2604</c:v>
                </c:pt>
                <c:pt idx="15">
                  <c:v>0.2568</c:v>
                </c:pt>
                <c:pt idx="16">
                  <c:v>0.2626</c:v>
                </c:pt>
                <c:pt idx="17">
                  <c:v>0.2549</c:v>
                </c:pt>
                <c:pt idx="18">
                  <c:v>0.2557</c:v>
                </c:pt>
                <c:pt idx="19">
                  <c:v>0.3169</c:v>
                </c:pt>
                <c:pt idx="20">
                  <c:v>0.3187</c:v>
                </c:pt>
                <c:pt idx="21">
                  <c:v>0.2583</c:v>
                </c:pt>
                <c:pt idx="22">
                  <c:v>0.2637</c:v>
                </c:pt>
                <c:pt idx="23">
                  <c:v>0.2497</c:v>
                </c:pt>
                <c:pt idx="24">
                  <c:v>0.2499</c:v>
                </c:pt>
                <c:pt idx="25">
                  <c:v>0.272</c:v>
                </c:pt>
                <c:pt idx="26">
                  <c:v>0.3201</c:v>
                </c:pt>
                <c:pt idx="27">
                  <c:v>0.3169</c:v>
                </c:pt>
              </c:numCache>
            </c:numRef>
          </c:val>
          <c:smooth val="0"/>
        </c:ser>
        <c:ser>
          <c:idx val="2"/>
          <c:order val="2"/>
          <c:tx>
            <c:strRef>
              <c:f>Sheet1!$D$1</c:f>
              <c:strCache>
                <c:ptCount val="1"/>
                <c:pt idx="0">
                  <c:v>Kalman (local)</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Sheet1!$A$2:$A$29</c:f>
              <c:multiLvlStrCache>
                <c:ptCount val="2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lvl>
              </c:multiLvlStrCache>
            </c:multiLvlStrRef>
          </c:cat>
          <c:val>
            <c:numRef>
              <c:f>Sheet1!$D$2:$D$29</c:f>
              <c:numCache>
                <c:formatCode>General</c:formatCode>
                <c:ptCount val="28"/>
                <c:pt idx="0">
                  <c:v>0.2517</c:v>
                </c:pt>
                <c:pt idx="1">
                  <c:v>0.2368</c:v>
                </c:pt>
                <c:pt idx="2">
                  <c:v>0.2528</c:v>
                </c:pt>
                <c:pt idx="3">
                  <c:v>0.2481</c:v>
                </c:pt>
                <c:pt idx="4">
                  <c:v>0.2776</c:v>
                </c:pt>
                <c:pt idx="5">
                  <c:v>0.3182</c:v>
                </c:pt>
                <c:pt idx="6">
                  <c:v>0.321</c:v>
                </c:pt>
                <c:pt idx="7">
                  <c:v>0.2479</c:v>
                </c:pt>
                <c:pt idx="8">
                  <c:v>0.2524</c:v>
                </c:pt>
                <c:pt idx="9">
                  <c:v>0.2485</c:v>
                </c:pt>
                <c:pt idx="10">
                  <c:v>0.265</c:v>
                </c:pt>
                <c:pt idx="11">
                  <c:v>0.2748</c:v>
                </c:pt>
                <c:pt idx="12">
                  <c:v>0.3278</c:v>
                </c:pt>
                <c:pt idx="13">
                  <c:v>0.3057</c:v>
                </c:pt>
                <c:pt idx="14">
                  <c:v>0.2646</c:v>
                </c:pt>
                <c:pt idx="15">
                  <c:v>0.2528</c:v>
                </c:pt>
                <c:pt idx="16">
                  <c:v>0.2641</c:v>
                </c:pt>
                <c:pt idx="17">
                  <c:v>0.2508</c:v>
                </c:pt>
                <c:pt idx="18">
                  <c:v>0.2603</c:v>
                </c:pt>
                <c:pt idx="19">
                  <c:v>0.3209</c:v>
                </c:pt>
                <c:pt idx="20">
                  <c:v>0.3203</c:v>
                </c:pt>
                <c:pt idx="21">
                  <c:v>0.2614</c:v>
                </c:pt>
                <c:pt idx="22">
                  <c:v>0.2577</c:v>
                </c:pt>
                <c:pt idx="23">
                  <c:v>0.2445</c:v>
                </c:pt>
                <c:pt idx="24">
                  <c:v>0.2428</c:v>
                </c:pt>
                <c:pt idx="25">
                  <c:v>0.2739</c:v>
                </c:pt>
                <c:pt idx="26">
                  <c:v>0.3216</c:v>
                </c:pt>
                <c:pt idx="27">
                  <c:v>0.3175</c:v>
                </c:pt>
              </c:numCache>
            </c:numRef>
          </c:val>
          <c:smooth val="0"/>
        </c:ser>
        <c:ser>
          <c:idx val="3"/>
          <c:order val="3"/>
          <c:tx>
            <c:strRef>
              <c:f>Sheet1!$E$1</c:f>
              <c:strCache>
                <c:ptCount val="1"/>
                <c:pt idx="0">
                  <c:v>LightGBM (global)</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Sheet1!$A$2:$A$29</c:f>
              <c:multiLvlStrCache>
                <c:ptCount val="2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lvl>
              </c:multiLvlStrCache>
            </c:multiLvlStrRef>
          </c:cat>
          <c:val>
            <c:numRef>
              <c:f>Sheet1!$E$2:$E$29</c:f>
              <c:numCache>
                <c:formatCode>General</c:formatCode>
                <c:ptCount val="28"/>
                <c:pt idx="0">
                  <c:v>0.2376</c:v>
                </c:pt>
                <c:pt idx="1">
                  <c:v>0.2224</c:v>
                </c:pt>
                <c:pt idx="2">
                  <c:v>0.2381</c:v>
                </c:pt>
                <c:pt idx="3">
                  <c:v>0.233</c:v>
                </c:pt>
                <c:pt idx="4">
                  <c:v>0.26</c:v>
                </c:pt>
                <c:pt idx="5">
                  <c:v>0.2979</c:v>
                </c:pt>
                <c:pt idx="6">
                  <c:v>0.3056</c:v>
                </c:pt>
                <c:pt idx="7">
                  <c:v>0.2342</c:v>
                </c:pt>
                <c:pt idx="8">
                  <c:v>0.2388</c:v>
                </c:pt>
                <c:pt idx="9">
                  <c:v>0.2339</c:v>
                </c:pt>
                <c:pt idx="10">
                  <c:v>0.2494</c:v>
                </c:pt>
                <c:pt idx="11">
                  <c:v>0.2608</c:v>
                </c:pt>
                <c:pt idx="12">
                  <c:v>0.315</c:v>
                </c:pt>
                <c:pt idx="13">
                  <c:v>0.2891</c:v>
                </c:pt>
                <c:pt idx="14">
                  <c:v>0.2491</c:v>
                </c:pt>
                <c:pt idx="15">
                  <c:v>0.2354</c:v>
                </c:pt>
                <c:pt idx="16">
                  <c:v>0.2468</c:v>
                </c:pt>
                <c:pt idx="17">
                  <c:v>0.2357</c:v>
                </c:pt>
                <c:pt idx="18">
                  <c:v>0.2457</c:v>
                </c:pt>
                <c:pt idx="19">
                  <c:v>0.3009</c:v>
                </c:pt>
                <c:pt idx="20">
                  <c:v>0.3032</c:v>
                </c:pt>
                <c:pt idx="21">
                  <c:v>0.2445</c:v>
                </c:pt>
                <c:pt idx="22">
                  <c:v>0.2395</c:v>
                </c:pt>
                <c:pt idx="23">
                  <c:v>0.2274</c:v>
                </c:pt>
                <c:pt idx="24">
                  <c:v>0.2274</c:v>
                </c:pt>
                <c:pt idx="25">
                  <c:v>0.2575</c:v>
                </c:pt>
                <c:pt idx="26">
                  <c:v>0.3034</c:v>
                </c:pt>
                <c:pt idx="27">
                  <c:v>0.2981</c:v>
                </c:pt>
              </c:numCache>
            </c:numRef>
          </c:val>
          <c:smooth val="0"/>
        </c:ser>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chemeClr val="tx2"/>
                    </a:solidFill>
                    <a:latin typeface="Arial"/>
                  </a:defRPr>
                </a:pPr>
                <a:r>
                  <a:rPr sz="1200" b="0" i="0" u="none" strike="noStrike">
                    <a:solidFill>
                      <a:schemeClr val="tx2"/>
                    </a:solidFill>
                    <a:latin typeface="Arial"/>
                  </a:rPr>
                  <a:t>Days ahead</a:t>
                </a:r>
              </a:p>
            </c:rich>
          </c:tx>
          <c:layout/>
          <c:overlay val="0"/>
        </c:title>
        <c:numFmt formatCode="General" sourceLinked="1"/>
        <c:majorTickMark val="out"/>
        <c:minorTickMark val="none"/>
        <c:tickLblPos val="low"/>
        <c:spPr>
          <a:ln w="12700" cap="flat">
            <a:solidFill>
              <a:srgbClr val="D6D4CE"/>
            </a:solid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tickLblSkip val="7"/>
      </c:catAx>
      <c:valAx>
        <c:axId val="2094734552"/>
        <c:scaling>
          <c:orientation val="minMax"/>
          <c:max val="0.45"/>
          <c:min val="0.2"/>
        </c:scaling>
        <c:delete val="0"/>
        <c:axPos val="l"/>
        <c:majorGridlines>
          <c:spPr>
            <a:ln w="9525" cap="flat">
              <a:solidFill>
                <a:srgbClr val="E4E3DF"/>
              </a:solidFill>
              <a:prstDash val="solid"/>
              <a:round/>
            </a:ln>
          </c:spPr>
        </c:majorGridlines>
        <c:numFmt formatCode="0.00" sourceLinked="0"/>
        <c:majorTickMark val="out"/>
        <c:minorTickMark val="none"/>
        <c:tickLblPos val="nextTo"/>
        <c:spPr>
          <a:ln w="12700" cap="flat">
            <a:noFill/>
            <a:prstDash val="solid"/>
            <a:round/>
          </a:ln>
        </c:spPr>
        <c:txPr>
          <a:bodyPr/>
          <a:lstStyle/>
          <a:p>
            <a:pPr>
              <a:defRPr sz="1200" b="0" i="0" u="none" strike="noStrike">
                <a:solidFill>
                  <a:schemeClr val="tx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chemeClr val="tx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chemeClr val="tx1"/>
                </a:solidFill>
                <a:latin typeface="+mn-lt"/>
              </a:defRPr>
            </a:pPr>
            <a:r>
              <a:rPr sz="1400" b="1" i="0" u="none" strike="noStrike">
                <a:solidFill>
                  <a:schemeClr val="tx1"/>
                </a:solidFill>
                <a:latin typeface="+mn-lt"/>
              </a:rPr>
              <a:t>Scaled pinball loss by demand class (lower is better)</a:t>
            </a:r>
          </a:p>
        </c:rich>
      </c:tx>
      <c:layout/>
      <c:overlay val="0"/>
    </c:title>
    <c:autoTitleDeleted val="0"/>
    <c:plotArea>
      <c:layout/>
      <c:barChart>
        <c:barDir val="col"/>
        <c:grouping val="clustered"/>
        <c:varyColors val="0"/>
        <c:ser>
          <c:idx val="0"/>
          <c:order val="0"/>
          <c:tx>
            <c:strRef>
              <c:f>Sheet1!$B$1</c:f>
              <c:strCache>
                <c:ptCount val="1"/>
                <c:pt idx="0">
                  <c:v>Seasonal naive</c:v>
                </c:pt>
              </c:strCache>
            </c:strRef>
          </c:tx>
          <c:spPr>
            <a:solidFill>
              <a:srgbClr val="9A9994"/>
            </a:solidFill>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cat>
            <c:multiLvlStrRef>
              <c:f>Sheet1!$A$2:$A$5</c:f>
              <c:multiLvlStrCache>
                <c:ptCount val="4"/>
                <c:lvl>
                  <c:pt idx="0">
                    <c:v>Smooth</c:v>
                  </c:pt>
                  <c:pt idx="1">
                    <c:v>Erratic</c:v>
                  </c:pt>
                  <c:pt idx="2">
                    <c:v>Intermittent</c:v>
                  </c:pt>
                  <c:pt idx="3">
                    <c:v>Lumpy</c:v>
                  </c:pt>
                </c:lvl>
              </c:multiLvlStrCache>
            </c:multiLvlStrRef>
          </c:cat>
          <c:val>
            <c:numRef>
              <c:f>Sheet1!$B$2:$B$5</c:f>
              <c:numCache>
                <c:formatCode>General</c:formatCode>
                <c:ptCount val="4"/>
                <c:pt idx="0">
                  <c:v>0.287</c:v>
                </c:pt>
                <c:pt idx="1">
                  <c:v>0.2989</c:v>
                </c:pt>
                <c:pt idx="2">
                  <c:v>0.416</c:v>
                </c:pt>
                <c:pt idx="3">
                  <c:v>0.3786</c:v>
                </c:pt>
              </c:numCache>
            </c:numRef>
          </c:val>
        </c:ser>
        <c:ser>
          <c:idx val="1"/>
          <c:order val="1"/>
          <c:tx>
            <c:strRef>
              <c:f>Sheet1!$C$1</c:f>
              <c:strCache>
                <c:ptCount val="1"/>
                <c:pt idx="0">
                  <c:v>TSB</c:v>
                </c:pt>
              </c:strCache>
            </c:strRef>
          </c:tx>
          <c:spPr>
            <a:solidFill>
              <a:srgbClr val="1BAF7A"/>
            </a:solidFill>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cat>
            <c:multiLvlStrRef>
              <c:f>Sheet1!$A$2:$A$5</c:f>
              <c:multiLvlStrCache>
                <c:ptCount val="4"/>
                <c:lvl>
                  <c:pt idx="0">
                    <c:v>Smooth</c:v>
                  </c:pt>
                  <c:pt idx="1">
                    <c:v>Erratic</c:v>
                  </c:pt>
                  <c:pt idx="2">
                    <c:v>Intermittent</c:v>
                  </c:pt>
                  <c:pt idx="3">
                    <c:v>Lumpy</c:v>
                  </c:pt>
                </c:lvl>
              </c:multiLvlStrCache>
            </c:multiLvlStrRef>
          </c:cat>
          <c:val>
            <c:numRef>
              <c:f>Sheet1!$C$2:$C$5</c:f>
              <c:numCache>
                <c:formatCode>General</c:formatCode>
                <c:ptCount val="4"/>
                <c:pt idx="0">
                  <c:v>0.2385</c:v>
                </c:pt>
                <c:pt idx="1">
                  <c:v>0.2462</c:v>
                </c:pt>
                <c:pt idx="2">
                  <c:v>0.3224</c:v>
                </c:pt>
                <c:pt idx="3">
                  <c:v>0.2858</c:v>
                </c:pt>
              </c:numCache>
            </c:numRef>
          </c:val>
        </c:ser>
        <c:ser>
          <c:idx val="2"/>
          <c:order val="2"/>
          <c:tx>
            <c:strRef>
              <c:f>Sheet1!$D$1</c:f>
              <c:strCache>
                <c:ptCount val="1"/>
                <c:pt idx="0">
                  <c:v>Kalman (local)</c:v>
                </c:pt>
              </c:strCache>
            </c:strRef>
          </c:tx>
          <c:spPr>
            <a:solidFill>
              <a:srgbClr val="2A78D6"/>
            </a:solidFill>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cat>
            <c:multiLvlStrRef>
              <c:f>Sheet1!$A$2:$A$5</c:f>
              <c:multiLvlStrCache>
                <c:ptCount val="4"/>
                <c:lvl>
                  <c:pt idx="0">
                    <c:v>Smooth</c:v>
                  </c:pt>
                  <c:pt idx="1">
                    <c:v>Erratic</c:v>
                  </c:pt>
                  <c:pt idx="2">
                    <c:v>Intermittent</c:v>
                  </c:pt>
                  <c:pt idx="3">
                    <c:v>Lumpy</c:v>
                  </c:pt>
                </c:lvl>
              </c:multiLvlStrCache>
            </c:multiLvlStrRef>
          </c:cat>
          <c:val>
            <c:numRef>
              <c:f>Sheet1!$D$2:$D$5</c:f>
              <c:numCache>
                <c:formatCode>General</c:formatCode>
                <c:ptCount val="4"/>
                <c:pt idx="0">
                  <c:v>0.2319</c:v>
                </c:pt>
                <c:pt idx="1">
                  <c:v>0.2389</c:v>
                </c:pt>
                <c:pt idx="2">
                  <c:v>0.3292</c:v>
                </c:pt>
                <c:pt idx="3">
                  <c:v>0.2848</c:v>
                </c:pt>
              </c:numCache>
            </c:numRef>
          </c:val>
        </c:ser>
        <c:ser>
          <c:idx val="3"/>
          <c:order val="3"/>
          <c:tx>
            <c:strRef>
              <c:f>Sheet1!$E$1</c:f>
              <c:strCache>
                <c:ptCount val="1"/>
                <c:pt idx="0">
                  <c:v>LightGBM (global)</c:v>
                </c:pt>
              </c:strCache>
            </c:strRef>
          </c:tx>
          <c:spPr>
            <a:solidFill>
              <a:srgbClr val="EB6834"/>
            </a:solidFill>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cat>
            <c:multiLvlStrRef>
              <c:f>Sheet1!$A$2:$A$5</c:f>
              <c:multiLvlStrCache>
                <c:ptCount val="4"/>
                <c:lvl>
                  <c:pt idx="0">
                    <c:v>Smooth</c:v>
                  </c:pt>
                  <c:pt idx="1">
                    <c:v>Erratic</c:v>
                  </c:pt>
                  <c:pt idx="2">
                    <c:v>Intermittent</c:v>
                  </c:pt>
                  <c:pt idx="3">
                    <c:v>Lumpy</c:v>
                  </c:pt>
                </c:lvl>
              </c:multiLvlStrCache>
            </c:multiLvlStrRef>
          </c:cat>
          <c:val>
            <c:numRef>
              <c:f>Sheet1!$E$2:$E$5</c:f>
              <c:numCache>
                <c:formatCode>General</c:formatCode>
                <c:ptCount val="4"/>
                <c:pt idx="0">
                  <c:v>0.2246</c:v>
                </c:pt>
                <c:pt idx="1">
                  <c:v>0.2319</c:v>
                </c:pt>
                <c:pt idx="2">
                  <c:v>0.2987</c:v>
                </c:pt>
                <c:pt idx="3">
                  <c:v>0.2737</c:v>
                </c:pt>
              </c:numCache>
            </c:numRef>
          </c:val>
        </c:ser>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6D4CE"/>
            </a:solid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4E3DF"/>
              </a:solidFill>
              <a:prstDash val="solid"/>
              <a:round/>
            </a:ln>
          </c:spPr>
        </c:majorGridlines>
        <c:numFmt formatCode="0.00" sourceLinked="0"/>
        <c:majorTickMark val="out"/>
        <c:minorTickMark val="none"/>
        <c:tickLblPos val="nextTo"/>
        <c:spPr>
          <a:ln w="12700" cap="flat">
            <a:noFill/>
            <a:prstDash val="solid"/>
            <a:round/>
          </a:ln>
        </c:spPr>
        <c:txPr>
          <a:bodyPr/>
          <a:lstStyle/>
          <a:p>
            <a:pPr>
              <a:defRPr sz="1200" b="0" i="0" u="none" strike="noStrike">
                <a:solidFill>
                  <a:schemeClr val="tx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chemeClr val="tx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chemeClr val="tx1"/>
                </a:solidFill>
                <a:latin typeface="+mn-lt"/>
              </a:defRPr>
            </a:pPr>
            <a:r>
              <a:rPr sz="1400" b="1" i="0" u="none" strike="noStrike">
                <a:solidFill>
                  <a:schemeClr val="tx1"/>
                </a:solidFill>
                <a:latin typeface="+mn-lt"/>
              </a:rPr>
              <a:t>Scaled pinball loss vs days of history (lower is better)</a:t>
            </a:r>
          </a:p>
        </c:rich>
      </c:tx>
      <c:layout/>
      <c:overlay val="0"/>
    </c:title>
    <c:autoTitleDeleted val="0"/>
    <c:plotArea>
      <c:layout/>
      <c:lineChart>
        <c:varyColors val="0"/>
        <c:ser>
          <c:idx val="0"/>
          <c:order val="0"/>
          <c:tx>
            <c:strRef>
              <c:f>Sheet1!$B$1</c:f>
              <c:strCache>
                <c:ptCount val="1"/>
                <c:pt idx="0">
                  <c:v>Seasonal naive</c:v>
                </c:pt>
              </c:strCache>
            </c:strRef>
          </c:tx>
          <c:spPr>
            <a:solidFill>
              <a:srgbClr val="9A9994"/>
            </a:solidFill>
            <a:ln w="25400" cap="flat">
              <a:solidFill>
                <a:srgbClr val="9A9994"/>
              </a:solidFill>
              <a:prstDash val="solid"/>
              <a:round/>
            </a:ln>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marker>
            <c:symbol val="circle"/>
            <c:size val="7"/>
            <c:spPr>
              <a:solidFill>
                <a:srgbClr val="9A9994"/>
              </a:solidFill>
              <a:ln w="9525" cap="flat">
                <a:solidFill>
                  <a:srgbClr val="9A9994"/>
                </a:solidFill>
                <a:prstDash val="solid"/>
                <a:round/>
              </a:ln>
              <a:effectLst/>
            </c:spPr>
          </c:marker>
          <c:cat>
            <c:multiLvlStrRef>
              <c:f>Sheet1!$A$2:$A$6</c:f>
              <c:multiLvlStrCache>
                <c:ptCount val="5"/>
                <c:lvl>
                  <c:pt idx="0">
                    <c:v>7-13</c:v>
                  </c:pt>
                  <c:pt idx="1">
                    <c:v>14-27</c:v>
                  </c:pt>
                  <c:pt idx="2">
                    <c:v>28-55</c:v>
                  </c:pt>
                  <c:pt idx="3">
                    <c:v>56-89</c:v>
                  </c:pt>
                  <c:pt idx="4">
                    <c:v>90-179</c:v>
                  </c:pt>
                </c:lvl>
              </c:multiLvlStrCache>
            </c:multiLvlStrRef>
          </c:cat>
          <c:val>
            <c:numRef>
              <c:f>Sheet1!$B$2:$B$6</c:f>
              <c:numCache>
                <c:formatCode>General</c:formatCode>
                <c:ptCount val="5"/>
                <c:pt idx="0">
                  <c:v>0.3496</c:v>
                </c:pt>
                <c:pt idx="1">
                  <c:v>0.439</c:v>
                </c:pt>
                <c:pt idx="2">
                  <c:v>0.4584</c:v>
                </c:pt>
                <c:pt idx="3">
                  <c:v>0.3664</c:v>
                </c:pt>
                <c:pt idx="4">
                  <c:v>0.3939</c:v>
                </c:pt>
              </c:numCache>
            </c:numRef>
          </c:val>
          <c:smooth val="0"/>
        </c:ser>
        <c:ser>
          <c:idx val="1"/>
          <c:order val="1"/>
          <c:tx>
            <c:strRef>
              <c:f>Sheet1!$C$1</c:f>
              <c:strCache>
                <c:ptCount val="1"/>
                <c:pt idx="0">
                  <c:v>TSB</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Sheet1!$A$2:$A$6</c:f>
              <c:multiLvlStrCache>
                <c:ptCount val="5"/>
                <c:lvl>
                  <c:pt idx="0">
                    <c:v>7-13</c:v>
                  </c:pt>
                  <c:pt idx="1">
                    <c:v>14-27</c:v>
                  </c:pt>
                  <c:pt idx="2">
                    <c:v>28-55</c:v>
                  </c:pt>
                  <c:pt idx="3">
                    <c:v>56-89</c:v>
                  </c:pt>
                  <c:pt idx="4">
                    <c:v>90-179</c:v>
                  </c:pt>
                </c:lvl>
              </c:multiLvlStrCache>
            </c:multiLvlStrRef>
          </c:cat>
          <c:val>
            <c:numRef>
              <c:f>Sheet1!$C$2:$C$6</c:f>
              <c:numCache>
                <c:formatCode>General</c:formatCode>
                <c:ptCount val="5"/>
                <c:pt idx="0">
                  <c:v>0.3162</c:v>
                </c:pt>
                <c:pt idx="1">
                  <c:v>0.3837</c:v>
                </c:pt>
                <c:pt idx="2">
                  <c:v>0.3588</c:v>
                </c:pt>
                <c:pt idx="3">
                  <c:v>0.279</c:v>
                </c:pt>
                <c:pt idx="4">
                  <c:v>0.3014</c:v>
                </c:pt>
              </c:numCache>
            </c:numRef>
          </c:val>
          <c:smooth val="0"/>
        </c:ser>
        <c:ser>
          <c:idx val="2"/>
          <c:order val="2"/>
          <c:tx>
            <c:strRef>
              <c:f>Sheet1!$D$1</c:f>
              <c:strCache>
                <c:ptCount val="1"/>
                <c:pt idx="0">
                  <c:v>Kalman (local)</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Sheet1!$A$2:$A$6</c:f>
              <c:multiLvlStrCache>
                <c:ptCount val="5"/>
                <c:lvl>
                  <c:pt idx="0">
                    <c:v>7-13</c:v>
                  </c:pt>
                  <c:pt idx="1">
                    <c:v>14-27</c:v>
                  </c:pt>
                  <c:pt idx="2">
                    <c:v>28-55</c:v>
                  </c:pt>
                  <c:pt idx="3">
                    <c:v>56-89</c:v>
                  </c:pt>
                  <c:pt idx="4">
                    <c:v>90-179</c:v>
                  </c:pt>
                </c:lvl>
              </c:multiLvlStrCache>
            </c:multiLvlStrRef>
          </c:cat>
          <c:val>
            <c:numRef>
              <c:f>Sheet1!$D$2:$D$6</c:f>
              <c:numCache>
                <c:formatCode>General</c:formatCode>
                <c:ptCount val="5"/>
                <c:pt idx="0">
                  <c:v>0.3744</c:v>
                </c:pt>
                <c:pt idx="1">
                  <c:v>0.4023</c:v>
                </c:pt>
                <c:pt idx="2">
                  <c:v>0.3763</c:v>
                </c:pt>
                <c:pt idx="3">
                  <c:v>0.2867</c:v>
                </c:pt>
                <c:pt idx="4">
                  <c:v>0.3081</c:v>
                </c:pt>
              </c:numCache>
            </c:numRef>
          </c:val>
          <c:smooth val="0"/>
        </c:ser>
        <c:ser>
          <c:idx val="3"/>
          <c:order val="3"/>
          <c:tx>
            <c:strRef>
              <c:f>Sheet1!$E$1</c:f>
              <c:strCache>
                <c:ptCount val="1"/>
                <c:pt idx="0">
                  <c:v>LightGBM (global)</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Sheet1!$A$2:$A$6</c:f>
              <c:multiLvlStrCache>
                <c:ptCount val="5"/>
                <c:lvl>
                  <c:pt idx="0">
                    <c:v>7-13</c:v>
                  </c:pt>
                  <c:pt idx="1">
                    <c:v>14-27</c:v>
                  </c:pt>
                  <c:pt idx="2">
                    <c:v>28-55</c:v>
                  </c:pt>
                  <c:pt idx="3">
                    <c:v>56-89</c:v>
                  </c:pt>
                  <c:pt idx="4">
                    <c:v>90-179</c:v>
                  </c:pt>
                </c:lvl>
              </c:multiLvlStrCache>
            </c:multiLvlStrRef>
          </c:cat>
          <c:val>
            <c:numRef>
              <c:f>Sheet1!$E$2:$E$6</c:f>
              <c:numCache>
                <c:formatCode>General</c:formatCode>
                <c:ptCount val="5"/>
                <c:pt idx="0">
                  <c:v>0.3023</c:v>
                </c:pt>
                <c:pt idx="1">
                  <c:v>0.3268</c:v>
                </c:pt>
                <c:pt idx="2">
                  <c:v>0.3297</c:v>
                </c:pt>
                <c:pt idx="3">
                  <c:v>0.2578</c:v>
                </c:pt>
                <c:pt idx="4">
                  <c:v>0.2867</c:v>
                </c:pt>
              </c:numCache>
            </c:numRef>
          </c:val>
          <c:smooth val="0"/>
        </c:ser>
        <c:dLbls>
          <c:numFmt formatCode="#,##0" sourceLinked="0"/>
          <c:txPr>
            <a:bodyPr/>
            <a:lstStyle/>
            <a:p>
              <a:pPr>
                <a:defRPr b="0" i="0" strike="noStrike" sz="1100" u="none">
                  <a:solidFill>
                    <a:schemeClr val="tx2"/>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6D4CE"/>
            </a:solidFill>
            <a:prstDash val="solid"/>
            <a:round/>
          </a:ln>
        </c:spPr>
        <c:txPr>
          <a:bodyPr/>
          <a:lstStyle/>
          <a:p>
            <a:pPr>
              <a:defRPr sz="1200" b="0" i="0" u="none" strike="noStrike">
                <a:solidFill>
                  <a:schemeClr val="tx2"/>
                </a:solidFill>
                <a:latin typeface="+mn-lt"/>
              </a:defRPr>
            </a:pPr>
            <a:endParaRPr lang="en-US"/>
          </a:p>
        </c:txPr>
        <c:crossAx val="2094734552"/>
        <c:crosses val="autoZero"/>
        <c:auto val="1"/>
        <c:lblAlgn val="ctr"/>
        <c:noMultiLvlLbl val="1"/>
      </c:catAx>
      <c:valAx>
        <c:axId val="2094734552"/>
        <c:scaling>
          <c:orientation val="minMax"/>
          <c:max val="0.5"/>
          <c:min val="0.2"/>
        </c:scaling>
        <c:delete val="0"/>
        <c:axPos val="l"/>
        <c:majorGridlines>
          <c:spPr>
            <a:ln w="9525" cap="flat">
              <a:solidFill>
                <a:srgbClr val="E4E3DF"/>
              </a:solidFill>
              <a:prstDash val="solid"/>
              <a:round/>
            </a:ln>
          </c:spPr>
        </c:majorGridlines>
        <c:numFmt formatCode="0.00" sourceLinked="0"/>
        <c:majorTickMark val="out"/>
        <c:minorTickMark val="none"/>
        <c:tickLblPos val="nextTo"/>
        <c:spPr>
          <a:ln w="12700" cap="flat">
            <a:noFill/>
            <a:prstDash val="solid"/>
            <a:round/>
          </a:ln>
        </c:spPr>
        <c:txPr>
          <a:bodyPr/>
          <a:lstStyle/>
          <a:p>
            <a:pPr>
              <a:defRPr sz="1200" b="0" i="0" u="none" strike="noStrike">
                <a:solidFill>
                  <a:schemeClr val="tx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chemeClr val="tx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PRISM stands for Probabilistic Retail Inventory forecasting with State-space and Machine learning. In Phase 1 we compare a local model, a Kalman filter fitted separately to every product, with a global model, one LightGBM model fitted across all products. Every model gives full predictive distributions and is tested on the same fair rolling backtest.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make retail demand hard. Most series are intermittent: the median series sells nothing on 63 percent of days. Sales are censored by stockouts: a zero can mean the shelf was empty. And new items arrive with almost no history. Inventory decisions use an upper quantile of demand, so we forecast seven quantiles for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local model fits each series on its own: it adapts quickly but cannot borrow strength. A global model fits one function to all series, so it can transfer patterns to sparse and new items. Our hypothesis is that the gap is largest exactly where local data is scarce.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M5 has 30,490 series. We use one store per state and 500 series per store. A random sample would be about 70 percent intermittent or lumpy, so we balance over category and Syntetos–Boylan class. ADI measures how irregular the timing of demand is, and CV squared how irregular the sizes are. Classes use only data before the first forecast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clean: no missing or negative values. Its problems are about meaning. Each finding turned into a modelling decision: weekly seasonality gives the seasonal state and weekday features; intermittency gives the log scale, the Tweedie loss and TSB; SNAP and events become known-ahead features; and Christmas closures are zeros that are not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M5 has no inventory data, so stockouts must be inferred. A run of L zeros is flagged when it would be very unlikely given the item’s own recent zero rate. The threshold adapts: a busy item is flagged after 3 zeros, an item at zero 80 percent of the time only after 31. We never invent values. The Kalman filter treats a flagged day as missing, LightGBM drops the row from its loss, and every metric is reported with and without these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five forecast origins, 28 days apart; the last one is the official M5 test window. At every origin each model is refit from scratch on a panel that physically contains no data after the cutoff, and all models are scored on exactly the same cells. Each point metric is scored on the functional it targets: absolute error on the median, squared error on the mean. Probabilistic quality is the pinball loss, a proper scoring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 model is Harvey’s basic structural model on the log scale: a random-walk level plus a seven-day seasonal. We wrote the Kalman recursions ourselves. Concentrating out the observation variance leaves a two-parameter profile likelihood that we search on a grid; because the filter is vectorised across products, one grid point is one pass over all 1,500 series, so the MLE takes about 50 seconds. Quantiles back-transform exactly. A stockout is a missing observation: the update is skipped. The implementation matches statsmodels to 1e-9.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global model is the M5-winning recipe made leakage-safe. Each sales feature for target day t is shifted by at least L days and L is at least the horizon, so the model never sees the future and needs no recursion. A lag-7 model serves the first week, a lag-28 model the rest. The mean uses the Tweedie loss; each quantile has its own pinball-loss model. The cross-store feature subtracts the item’s own sales, so a simulated new item’s hidden history cannot leak back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learned models cut WAPE by about a quarter against seasonal naive. LightGBM is best on WAPE, RMSSE and scaled pinball loss; the difference from the Kalman filter is highly significant, with a Diebold–Mariano statistic of minus 11, and LightGBM has the lower loss on 79 percent of series. The Kalman filter is still the best local method and its 90 percent interval is almost exactly calibrated. Unmasked, the ranking is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depends far more on the day of the week than on how far ahead we forecast: all origins start on the same weekday, so the peaks are weekends. The order of the models never changes over the 28 days. The short-lag LightGBM variant helps in the first week, and the Diebold–Mariano test says that small gain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local-versus-global gap in one picture. On smooth and erratic series the global model is only about 3 percent better. On intermittent series the gap triples to 9 percent: a Gaussian filter on log sales describes mostly-zero counts poorly, and one series has little information to estimate its own level and season. The global model pools that structure across hundreds of similar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start is where the gap is largest. With one to two weeks of history the local filter cannot estimate its own noise, so its nominal 90 percent interval covers only 71 percent of outcomes. LightGBM stays calibrated from day 7 because it borrows from the same item in other stores, the department, and price and calendar effects. As history accumulates the filter recovers quickly, which is its real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count data a quantile is legitimately zero whenever the chance of zero sales exceeds the level, so the right check is that the level lies between the share of actuals strictly below the quantile and the share at or below it. Low quantiles are calibrated for all models; at the 0.9 level the Kalman filter and LightGBM put 0.889 and 0.895 of outcomes below, so upper tails are slightly light. On the right, LightGBM’s median for the smooth series is closer to the realised level and its upper tail is tighter; on the intermittent series its lower quartile is exactly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global model wins consistently and significantly, and its advantage is concentrated on intermittent and new items, exactly as hypothesised. But the margin is moderate overall, about 6 percent in scaled pinball loss, and the local filter has real strengths. That makes them complements, which motivates the hybrid in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follows from the gap we measured. First, DeepAR: a global recurrent network with a count likelihood and item embeddings. Second, the hybrid: the Kalman filter’s level, seasonal effect and state variance become covariates for the network. Both plug into the same backtest through our model interface, so the comparison stays like for like, and ablations will show whether the Kalman features add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us owns one module end to end: the code, its notebook and its section of the report. Every member can also explain the overall pipeline and the local-versus-global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this talk is regenerated from one configuration file: download the data, run the tests, run the backtest, build the report assets and this deck.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RISM 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7315200" cy="365760"/>
          </a:xfrm>
          <a:prstGeom prst="rect">
            <a:avLst/>
          </a:prstGeom>
          <a:noFill/>
          <a:ln/>
        </p:spPr>
        <p:txBody>
          <a:bodyPr wrap="square" rtlCol="0"/>
          <a:lstStyle>
            <a:lvl1pPr algn="l" indent="0" marL="0">
              <a:buNone/>
              <a:defRPr lang="en-US" sz="1400" b="1" spc="300" kern="0" dirty="0">
                <a:solidFill>
                  <a:schemeClr val="bg2"/>
                </a:solidFill>
              </a:defRPr>
            </a:lvl1pPr>
          </a:lstStyle>
          <a:p>
            <a:pPr algn="l" indent="0" marL="0">
              <a:buNone/>
            </a:pPr>
            <a:endParaRPr lang="en-US" sz="1400" dirty="0"/>
          </a:p>
        </p:txBody>
      </p:sp>
      <p:sp>
        <p:nvSpPr>
          <p:cNvPr id="3" name="Text 0"/>
          <p:cNvSpPr/>
          <p:nvPr>
            <p:ph idx="101" type="title" hasCustomPrompt="1"/>
          </p:nvPr>
        </p:nvSpPr>
        <p:spPr>
          <a:xfrm>
            <a:off x="548640" y="1828800"/>
            <a:ext cx="7498080" cy="1371600"/>
          </a:xfrm>
          <a:prstGeom prst="rect">
            <a:avLst/>
          </a:prstGeom>
          <a:noFill/>
          <a:ln/>
        </p:spPr>
        <p:txBody>
          <a:bodyPr wrap="square" rtlCol="0"/>
          <a:lstStyle>
            <a:lvl1pPr algn="l" indent="0" marL="0">
              <a:buNone/>
              <a:defRPr lang="en-US" sz="8000" b="1" dirty="0">
                <a:solidFill>
                  <a:schemeClr val="bg1"/>
                </a:solidFill>
              </a:defRPr>
            </a:lvl1pPr>
          </a:lstStyle>
          <a:p>
            <a:pPr algn="l" indent="0" marL="0">
              <a:buNone/>
            </a:pPr>
            <a:endParaRPr lang="en-US" sz="8000" dirty="0"/>
          </a:p>
        </p:txBody>
      </p:sp>
      <p:sp>
        <p:nvSpPr>
          <p:cNvPr id="4" name="Text 0"/>
          <p:cNvSpPr/>
          <p:nvPr>
            <p:ph idx="102" type="body" hasCustomPrompt="1"/>
          </p:nvPr>
        </p:nvSpPr>
        <p:spPr>
          <a:xfrm>
            <a:off x="548640" y="3291840"/>
            <a:ext cx="6949440" cy="1280160"/>
          </a:xfrm>
          <a:prstGeom prst="rect">
            <a:avLst/>
          </a:prstGeom>
          <a:noFill/>
          <a:ln/>
        </p:spPr>
        <p:txBody>
          <a:bodyPr wrap="square" rtlCol="0"/>
          <a:lstStyle>
            <a:lvl1pPr algn="l" indent="0" marL="0">
              <a:buNone/>
              <a:defRPr lang="en-US" sz="2400" dirty="0">
                <a:solidFill>
                  <a:schemeClr val="bg1"/>
                </a:solidFill>
              </a:defRPr>
            </a:lvl1pPr>
          </a:lstStyle>
          <a:p>
            <a:pPr algn="l" indent="0" marL="0">
              <a:buNone/>
            </a:pPr>
            <a:endParaRPr lang="en-US" sz="2400" dirty="0"/>
          </a:p>
        </p:txBody>
      </p:sp>
      <p:sp>
        <p:nvSpPr>
          <p:cNvPr id="5" name="Text 0"/>
          <p:cNvSpPr/>
          <p:nvPr>
            <p:ph idx="103" type="body" hasCustomPrompt="1"/>
          </p:nvPr>
        </p:nvSpPr>
        <p:spPr>
          <a:xfrm>
            <a:off x="548640" y="5852160"/>
            <a:ext cx="10972800" cy="45720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RISM 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rtlCol="0"/>
          <a:lstStyle>
            <a:lvl1pPr algn="l" indent="0" marL="0">
              <a:buNone/>
              <a:defRPr lang="en-US" sz="1300" b="1" spc="200" kern="0" dirty="0">
                <a:solidFill>
                  <a:schemeClr val="accent1"/>
                </a:solidFill>
              </a:defRPr>
            </a:lvl1pPr>
          </a:lstStyle>
          <a:p>
            <a:pPr algn="l" indent="0" marL="0">
              <a:buNone/>
            </a:pP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382512"/>
            <a:ext cx="1645920" cy="274320"/>
          </a:xfrm>
          <a:prstGeom prst="rect">
            <a:avLst/>
          </a:prstGeom>
          <a:noFill/>
          <a:ln/>
        </p:spPr>
        <p:txBody>
          <a:bodyPr wrap="square" lIns="0" tIns="0" rIns="0" bIns="0" rtlCol="0" anchor="ctr"/>
          <a:lstStyle/>
          <a:p>
            <a:pPr indent="0" marL="0">
              <a:buNone/>
            </a:pPr>
            <a:r>
              <a:rPr lang="en-US" sz="1100" dirty="0">
                <a:solidFill>
                  <a:schemeClr val="tx2"/>
                </a:solidFill>
              </a:rPr>
              <a:t>PRISM · Phase 1</a:t>
            </a:r>
            <a:endParaRPr lang="en-US" sz="1100" dirty="0"/>
          </a:p>
        </p:txBody>
      </p:sp>
      <p:sp>
        <p:nvSpPr>
          <p:cNvPr id="5" name="Text 1"/>
          <p:cNvSpPr/>
          <p:nvPr>
            <p:ph idx="103" type="body" hasCustomPrompt="1"/>
          </p:nvPr>
        </p:nvSpPr>
        <p:spPr>
          <a:xfrm>
            <a:off x="2286000" y="6382512"/>
            <a:ext cx="8595360" cy="274320"/>
          </a:xfrm>
          <a:prstGeom prst="rect">
            <a:avLst/>
          </a:prstGeom>
          <a:noFill/>
          <a:ln/>
        </p:spPr>
        <p:txBody>
          <a:bodyPr wrap="square" rtlCol="0"/>
          <a:lstStyle>
            <a:lvl1pPr algn="l" indent="0" marL="0">
              <a:buNone/>
              <a:defRPr lang="en-US" sz="1100" dirty="0">
                <a:solidFill>
                  <a:schemeClr val="tx2"/>
                </a:solidFill>
              </a:defRPr>
            </a:lvl1pPr>
          </a:lstStyle>
          <a:p>
            <a:pPr algn="l" indent="0" marL="0">
              <a:buNone/>
            </a:pP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RISM Statem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9144000" cy="365760"/>
          </a:xfrm>
          <a:prstGeom prst="rect">
            <a:avLst/>
          </a:prstGeom>
          <a:noFill/>
          <a:ln/>
        </p:spPr>
        <p:txBody>
          <a:bodyPr wrap="square" rtlCol="0"/>
          <a:lstStyle>
            <a:lvl1pPr algn="l" indent="0" marL="0">
              <a:buNone/>
              <a:defRPr lang="en-US" sz="1400" b="1" spc="300" kern="0" dirty="0">
                <a:solidFill>
                  <a:schemeClr val="bg2"/>
                </a:solidFill>
              </a:defRPr>
            </a:lvl1pPr>
          </a:lstStyle>
          <a:p>
            <a:pPr algn="l" indent="0" marL="0">
              <a:buNone/>
            </a:pPr>
            <a:endParaRPr lang="en-US" sz="1400" dirty="0"/>
          </a:p>
        </p:txBody>
      </p:sp>
      <p:sp>
        <p:nvSpPr>
          <p:cNvPr id="3" name="Text 0"/>
          <p:cNvSpPr/>
          <p:nvPr>
            <p:ph idx="101" type="title" hasCustomPrompt="1"/>
          </p:nvPr>
        </p:nvSpPr>
        <p:spPr>
          <a:xfrm>
            <a:off x="548640" y="1645920"/>
            <a:ext cx="1051560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548640" y="3840480"/>
            <a:ext cx="9601200" cy="14630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7315200" cy="365760"/>
          </a:xfrm>
          <a:prstGeom prst="rect">
            <a:avLst/>
          </a:prstGeom>
          <a:noFill/>
          <a:ln/>
        </p:spPr>
        <p:txBody>
          <a:bodyPr wrap="square" lIns="0" tIns="0" rIns="0" bIns="0" rtlCol="0"/>
          <a:lstStyle/>
          <a:p>
            <a:pPr algn="l" indent="0" marL="0">
              <a:buNone/>
            </a:pPr>
            <a:r>
              <a:rPr lang="en-US" sz="1400" b="1" spc="300" kern="0" dirty="0">
                <a:solidFill>
                  <a:schemeClr val="bg2"/>
                </a:solidFill>
              </a:rPr>
              <a:t>MACHINE LEARNING PROJECT · PHASE 1</a:t>
            </a:r>
            <a:endParaRPr lang="en-US" sz="1400" dirty="0"/>
          </a:p>
        </p:txBody>
      </p:sp>
      <p:sp>
        <p:nvSpPr>
          <p:cNvPr id="3" name="Text 0"/>
          <p:cNvSpPr/>
          <p:nvPr>
            <p:ph idx="101" type="title" hasCustomPrompt="1"/>
          </p:nvPr>
        </p:nvSpPr>
        <p:spPr>
          <a:xfrm>
            <a:off x="548640" y="1828800"/>
            <a:ext cx="7498080" cy="1371600"/>
          </a:xfrm>
          <a:prstGeom prst="rect">
            <a:avLst/>
          </a:prstGeom>
          <a:noFill/>
          <a:ln/>
        </p:spPr>
        <p:txBody>
          <a:bodyPr wrap="square" lIns="0" tIns="0" rIns="0" bIns="0" rtlCol="0" anchor="ctr"/>
          <a:lstStyle/>
          <a:p>
            <a:pPr algn="l" indent="0" marL="0">
              <a:buNone/>
            </a:pPr>
            <a:r>
              <a:rPr lang="en-US" sz="8000" b="1" dirty="0">
                <a:solidFill>
                  <a:schemeClr val="bg1"/>
                </a:solidFill>
              </a:rPr>
              <a:t>PRISM</a:t>
            </a:r>
            <a:endParaRPr lang="en-US" sz="8000" dirty="0"/>
          </a:p>
        </p:txBody>
      </p:sp>
      <p:sp>
        <p:nvSpPr>
          <p:cNvPr id="4" name="Text 0"/>
          <p:cNvSpPr/>
          <p:nvPr>
            <p:ph idx="102" type="body" hasCustomPrompt="1"/>
          </p:nvPr>
        </p:nvSpPr>
        <p:spPr>
          <a:xfrm>
            <a:off x="548640" y="3291840"/>
            <a:ext cx="6949440" cy="1280160"/>
          </a:xfrm>
          <a:prstGeom prst="rect">
            <a:avLst/>
          </a:prstGeom>
          <a:noFill/>
          <a:ln/>
        </p:spPr>
        <p:txBody>
          <a:bodyPr wrap="square" lIns="0" tIns="0" rIns="0" bIns="0" rtlCol="0" anchor="t"/>
          <a:lstStyle/>
          <a:p>
            <a:pPr algn="l" indent="0" marL="0">
              <a:buNone/>
            </a:pPr>
            <a:r>
              <a:rPr lang="en-US" sz="2400" dirty="0">
                <a:solidFill>
                  <a:schemeClr val="bg1"/>
                </a:solidFill>
              </a:rPr>
              <a:t>Probabilistic Retail Inventory forecasting</a:t>
            </a:r>
            <a:endParaRPr lang="en-US" sz="2400" dirty="0"/>
          </a:p>
          <a:p>
            <a:pPr algn="l" indent="0" marL="0">
              <a:buNone/>
            </a:pPr>
            <a:r>
              <a:rPr lang="en-US" sz="2400" dirty="0">
                <a:solidFill>
                  <a:schemeClr val="bg1"/>
                </a:solidFill>
              </a:rPr>
              <a:t>with State-space &amp; Machine learning</a:t>
            </a:r>
            <a:endParaRPr lang="en-US" sz="2400" dirty="0"/>
          </a:p>
          <a:p>
            <a:pPr algn="l" indent="0" marL="0">
              <a:buNone/>
            </a:pPr>
            <a:r>
              <a:rPr lang="en-US" sz="1800" dirty="0">
                <a:solidFill>
                  <a:schemeClr val="bg2"/>
                </a:solidFill>
              </a:rPr>
              <a:t>Local Kalman filtering vs. global gradient boosting on M5</a:t>
            </a:r>
            <a:endParaRPr lang="en-US" sz="2400" dirty="0"/>
          </a:p>
        </p:txBody>
      </p:sp>
      <p:sp>
        <p:nvSpPr>
          <p:cNvPr id="5" name="Text 0"/>
          <p:cNvSpPr/>
          <p:nvPr>
            <p:ph idx="103" type="body" hasCustomPrompt="1"/>
          </p:nvPr>
        </p:nvSpPr>
        <p:spPr>
          <a:xfrm>
            <a:off x="548640" y="5852160"/>
            <a:ext cx="10972800" cy="457200"/>
          </a:xfrm>
          <a:prstGeom prst="rect">
            <a:avLst/>
          </a:prstGeom>
          <a:noFill/>
          <a:ln/>
        </p:spPr>
        <p:txBody>
          <a:bodyPr wrap="square" lIns="0" tIns="0" rIns="0" bIns="0" rtlCol="0"/>
          <a:lstStyle/>
          <a:p>
            <a:pPr algn="l" indent="0" marL="0">
              <a:buNone/>
            </a:pPr>
            <a:r>
              <a:rPr lang="en-US" sz="1400" dirty="0">
                <a:solidFill>
                  <a:schemeClr val="bg2"/>
                </a:solidFill>
              </a:rPr>
              <a:t>[Member 1] · [Member 2] · [Member 3] · [Member 4] · [Member 5]  —  Newton School of Technology, Rishihood University</a:t>
            </a:r>
            <a:endParaRPr lang="en-US" sz="1400" dirty="0"/>
          </a:p>
        </p:txBody>
      </p:sp>
      <p:sp>
        <p:nvSpPr>
          <p:cNvPr id="6" name="local circle"/>
          <p:cNvSpPr/>
          <p:nvPr/>
        </p:nvSpPr>
        <p:spPr>
          <a:xfrm>
            <a:off x="8138160" y="1554480"/>
            <a:ext cx="2743200" cy="2743200"/>
          </a:xfrm>
          <a:prstGeom prst="ellipse">
            <a:avLst/>
          </a:prstGeom>
          <a:solidFill>
            <a:schemeClr val="accent1">
              <a:alpha val="85000"/>
            </a:schemeClr>
          </a:solidFill>
          <a:ln/>
        </p:spPr>
      </p:sp>
      <p:sp>
        <p:nvSpPr>
          <p:cNvPr id="7" name="global circle"/>
          <p:cNvSpPr/>
          <p:nvPr/>
        </p:nvSpPr>
        <p:spPr>
          <a:xfrm>
            <a:off x="9326880" y="2377440"/>
            <a:ext cx="2286000" cy="2286000"/>
          </a:xfrm>
          <a:prstGeom prst="ellipse">
            <a:avLst/>
          </a:prstGeom>
          <a:solidFill>
            <a:schemeClr val="accent2">
              <a:alpha val="80000"/>
            </a:schemeClr>
          </a:solidFill>
          <a:ln/>
        </p:spPr>
      </p:sp>
      <p:sp>
        <p:nvSpPr>
          <p:cNvPr id="8" name="Text 6"/>
          <p:cNvSpPr txBox="1"/>
          <p:nvPr/>
        </p:nvSpPr>
        <p:spPr>
          <a:xfrm>
            <a:off x="8503920" y="2651760"/>
            <a:ext cx="1280160" cy="365760"/>
          </a:xfrm>
          <a:prstGeom prst="rect">
            <a:avLst/>
          </a:prstGeom>
          <a:noFill/>
          <a:ln/>
        </p:spPr>
        <p:txBody>
          <a:bodyPr wrap="square" lIns="0" tIns="0" rIns="0" bIns="0" rtlCol="0" anchor="t"/>
          <a:lstStyle/>
          <a:p>
            <a:pPr indent="0" marL="0">
              <a:buNone/>
            </a:pPr>
            <a:r>
              <a:rPr lang="en-US" sz="1600" b="1" dirty="0">
                <a:solidFill>
                  <a:schemeClr val="bg1"/>
                </a:solidFill>
              </a:rPr>
              <a:t>local</a:t>
            </a:r>
            <a:endParaRPr lang="en-US" sz="1600" dirty="0"/>
          </a:p>
        </p:txBody>
      </p:sp>
      <p:sp>
        <p:nvSpPr>
          <p:cNvPr id="9" name="Text 7"/>
          <p:cNvSpPr txBox="1"/>
          <p:nvPr/>
        </p:nvSpPr>
        <p:spPr>
          <a:xfrm>
            <a:off x="10195560" y="3611880"/>
            <a:ext cx="1280160" cy="365760"/>
          </a:xfrm>
          <a:prstGeom prst="rect">
            <a:avLst/>
          </a:prstGeom>
          <a:noFill/>
          <a:ln/>
        </p:spPr>
        <p:txBody>
          <a:bodyPr wrap="square" lIns="0" tIns="0" rIns="0" bIns="0" rtlCol="0" anchor="t"/>
          <a:lstStyle/>
          <a:p>
            <a:pPr indent="0" marL="0">
              <a:buNone/>
            </a:pPr>
            <a:r>
              <a:rPr lang="en-US" sz="1600" b="1" dirty="0">
                <a:solidFill>
                  <a:schemeClr val="bg1"/>
                </a:solidFill>
              </a:rPr>
              <a:t>global</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lIns="0" tIns="0" rIns="0" bIns="0" rtlCol="0"/>
          <a:lstStyle/>
          <a:p>
            <a:pPr algn="l" indent="0" marL="0">
              <a:buNone/>
            </a:pPr>
            <a:r>
              <a:rPr lang="en-US" sz="1300" b="1" spc="200" kern="0" dirty="0">
                <a:solidFill>
                  <a:schemeClr val="accent1"/>
                </a:solidFill>
              </a:rPr>
              <a:t>THE PROBLEM</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400" b="1" dirty="0">
                <a:solidFill>
                  <a:schemeClr val="tx1"/>
                </a:solidFill>
              </a:rPr>
              <a:t>Inventory needs a demand distribution, not a number</a:t>
            </a:r>
            <a:endParaRPr lang="en-US" sz="3400" dirty="0"/>
          </a:p>
        </p:txBody>
      </p:sp>
      <p:sp>
        <p:nvSpPr>
          <p:cNvPr id="4" name="problem card 1"/>
          <p:cNvSpPr/>
          <p:nvPr/>
        </p:nvSpPr>
        <p:spPr>
          <a:xfrm>
            <a:off x="548640" y="1737360"/>
            <a:ext cx="3520440" cy="2971800"/>
          </a:xfrm>
          <a:prstGeom prst="roundRect">
            <a:avLst>
              <a:gd name="adj" fmla="val 3692"/>
            </a:avLst>
          </a:prstGeom>
          <a:solidFill>
            <a:schemeClr val="bg2"/>
          </a:solidFill>
          <a:ln/>
        </p:spPr>
      </p:sp>
      <p:sp>
        <p:nvSpPr>
          <p:cNvPr id="5" name="Text 3"/>
          <p:cNvSpPr txBox="1"/>
          <p:nvPr/>
        </p:nvSpPr>
        <p:spPr>
          <a:xfrm>
            <a:off x="868680" y="1965960"/>
            <a:ext cx="2926080" cy="868680"/>
          </a:xfrm>
          <a:prstGeom prst="rect">
            <a:avLst/>
          </a:prstGeom>
          <a:noFill/>
          <a:ln/>
        </p:spPr>
        <p:txBody>
          <a:bodyPr wrap="square" lIns="0" tIns="0" rIns="0" bIns="0" rtlCol="0" anchor="b"/>
          <a:lstStyle/>
          <a:p>
            <a:pPr indent="0" marL="0">
              <a:buNone/>
            </a:pPr>
            <a:r>
              <a:rPr lang="en-US" sz="4800" b="1" dirty="0">
                <a:solidFill>
                  <a:schemeClr val="tx1"/>
                </a:solidFill>
                <a:latin typeface="Cambria" pitchFamily="34" charset="0"/>
                <a:ea typeface="Cambria" pitchFamily="34" charset="-122"/>
                <a:cs typeface="Cambria" pitchFamily="34" charset="-120"/>
              </a:rPr>
              <a:t>63%</a:t>
            </a:r>
            <a:endParaRPr lang="en-US" sz="4800" dirty="0"/>
          </a:p>
        </p:txBody>
      </p:sp>
      <p:sp>
        <p:nvSpPr>
          <p:cNvPr id="6" name="Text 4"/>
          <p:cNvSpPr txBox="1"/>
          <p:nvPr/>
        </p:nvSpPr>
        <p:spPr>
          <a:xfrm>
            <a:off x="868680" y="2971800"/>
            <a:ext cx="2926080" cy="365760"/>
          </a:xfrm>
          <a:prstGeom prst="rect">
            <a:avLst/>
          </a:prstGeom>
          <a:noFill/>
          <a:ln/>
        </p:spPr>
        <p:txBody>
          <a:bodyPr wrap="square" lIns="0" tIns="0" rIns="0" bIns="0" rtlCol="0" anchor="t"/>
          <a:lstStyle/>
          <a:p>
            <a:pPr indent="0" marL="0">
              <a:buNone/>
            </a:pPr>
            <a:r>
              <a:rPr lang="en-US" sz="2000" b="1" dirty="0">
                <a:solidFill>
                  <a:schemeClr val="tx1"/>
                </a:solidFill>
              </a:rPr>
              <a:t>Intermittent</a:t>
            </a:r>
            <a:endParaRPr lang="en-US" sz="2000" dirty="0"/>
          </a:p>
        </p:txBody>
      </p:sp>
      <p:sp>
        <p:nvSpPr>
          <p:cNvPr id="7" name="Text 5"/>
          <p:cNvSpPr txBox="1"/>
          <p:nvPr/>
        </p:nvSpPr>
        <p:spPr>
          <a:xfrm>
            <a:off x="868680" y="3429000"/>
            <a:ext cx="2926080" cy="1097280"/>
          </a:xfrm>
          <a:prstGeom prst="rect">
            <a:avLst/>
          </a:prstGeom>
          <a:noFill/>
          <a:ln/>
        </p:spPr>
        <p:txBody>
          <a:bodyPr wrap="square" lIns="0" tIns="0" rIns="0" bIns="0" rtlCol="0" anchor="t"/>
          <a:lstStyle/>
          <a:p>
            <a:pPr indent="0" marL="0">
              <a:buNone/>
            </a:pPr>
            <a:r>
              <a:rPr lang="en-US" sz="1600" dirty="0">
                <a:solidFill>
                  <a:schemeClr val="tx2"/>
                </a:solidFill>
              </a:rPr>
              <a:t>of days have zero sales for the median item-store series</a:t>
            </a:r>
            <a:endParaRPr lang="en-US" sz="1600" dirty="0"/>
          </a:p>
        </p:txBody>
      </p:sp>
      <p:sp>
        <p:nvSpPr>
          <p:cNvPr id="8" name="problem card 2"/>
          <p:cNvSpPr/>
          <p:nvPr/>
        </p:nvSpPr>
        <p:spPr>
          <a:xfrm>
            <a:off x="4334256" y="1737360"/>
            <a:ext cx="3520440" cy="2971800"/>
          </a:xfrm>
          <a:prstGeom prst="roundRect">
            <a:avLst>
              <a:gd name="adj" fmla="val 3692"/>
            </a:avLst>
          </a:prstGeom>
          <a:solidFill>
            <a:schemeClr val="bg2"/>
          </a:solidFill>
          <a:ln/>
        </p:spPr>
      </p:sp>
      <p:sp>
        <p:nvSpPr>
          <p:cNvPr id="9" name="Text 7"/>
          <p:cNvSpPr txBox="1"/>
          <p:nvPr/>
        </p:nvSpPr>
        <p:spPr>
          <a:xfrm>
            <a:off x="4654296" y="1965960"/>
            <a:ext cx="2926080" cy="868680"/>
          </a:xfrm>
          <a:prstGeom prst="rect">
            <a:avLst/>
          </a:prstGeom>
          <a:noFill/>
          <a:ln/>
        </p:spPr>
        <p:txBody>
          <a:bodyPr wrap="square" lIns="0" tIns="0" rIns="0" bIns="0" rtlCol="0" anchor="b"/>
          <a:lstStyle/>
          <a:p>
            <a:pPr indent="0" marL="0">
              <a:buNone/>
            </a:pPr>
            <a:r>
              <a:rPr lang="en-US" sz="4800" b="1" dirty="0">
                <a:solidFill>
                  <a:schemeClr val="tx1"/>
                </a:solidFill>
                <a:latin typeface="Cambria" pitchFamily="34" charset="0"/>
                <a:ea typeface="Cambria" pitchFamily="34" charset="-122"/>
                <a:cs typeface="Cambria" pitchFamily="34" charset="-120"/>
              </a:rPr>
              <a:t>13.7%</a:t>
            </a:r>
            <a:endParaRPr lang="en-US" sz="4800" dirty="0"/>
          </a:p>
        </p:txBody>
      </p:sp>
      <p:sp>
        <p:nvSpPr>
          <p:cNvPr id="10" name="Text 8"/>
          <p:cNvSpPr txBox="1"/>
          <p:nvPr/>
        </p:nvSpPr>
        <p:spPr>
          <a:xfrm>
            <a:off x="4654296" y="2971800"/>
            <a:ext cx="2926080" cy="365760"/>
          </a:xfrm>
          <a:prstGeom prst="rect">
            <a:avLst/>
          </a:prstGeom>
          <a:noFill/>
          <a:ln/>
        </p:spPr>
        <p:txBody>
          <a:bodyPr wrap="square" lIns="0" tIns="0" rIns="0" bIns="0" rtlCol="0" anchor="t"/>
          <a:lstStyle/>
          <a:p>
            <a:pPr indent="0" marL="0">
              <a:buNone/>
            </a:pPr>
            <a:r>
              <a:rPr lang="en-US" sz="2000" b="1" dirty="0">
                <a:solidFill>
                  <a:schemeClr val="tx1"/>
                </a:solidFill>
              </a:rPr>
              <a:t>Censored</a:t>
            </a:r>
            <a:endParaRPr lang="en-US" sz="2000" dirty="0"/>
          </a:p>
        </p:txBody>
      </p:sp>
      <p:sp>
        <p:nvSpPr>
          <p:cNvPr id="11" name="Text 9"/>
          <p:cNvSpPr txBox="1"/>
          <p:nvPr/>
        </p:nvSpPr>
        <p:spPr>
          <a:xfrm>
            <a:off x="4654296" y="3429000"/>
            <a:ext cx="2926080" cy="1097280"/>
          </a:xfrm>
          <a:prstGeom prst="rect">
            <a:avLst/>
          </a:prstGeom>
          <a:noFill/>
          <a:ln/>
        </p:spPr>
        <p:txBody>
          <a:bodyPr wrap="square" lIns="0" tIns="0" rIns="0" bIns="0" rtlCol="0" anchor="t"/>
          <a:lstStyle/>
          <a:p>
            <a:pPr indent="0" marL="0">
              <a:buNone/>
            </a:pPr>
            <a:r>
              <a:rPr lang="en-US" sz="1600" dirty="0">
                <a:solidFill>
                  <a:schemeClr val="tx2"/>
                </a:solidFill>
              </a:rPr>
              <a:t>of observed days look like stockouts: zeros that measure the shelf, not demand</a:t>
            </a:r>
            <a:endParaRPr lang="en-US" sz="1600" dirty="0"/>
          </a:p>
        </p:txBody>
      </p:sp>
      <p:sp>
        <p:nvSpPr>
          <p:cNvPr id="12" name="problem card 3"/>
          <p:cNvSpPr/>
          <p:nvPr/>
        </p:nvSpPr>
        <p:spPr>
          <a:xfrm>
            <a:off x="8119872" y="1737360"/>
            <a:ext cx="3520440" cy="2971800"/>
          </a:xfrm>
          <a:prstGeom prst="roundRect">
            <a:avLst>
              <a:gd name="adj" fmla="val 3692"/>
            </a:avLst>
          </a:prstGeom>
          <a:solidFill>
            <a:schemeClr val="bg2"/>
          </a:solidFill>
          <a:ln/>
        </p:spPr>
      </p:sp>
      <p:sp>
        <p:nvSpPr>
          <p:cNvPr id="13" name="Text 11"/>
          <p:cNvSpPr txBox="1"/>
          <p:nvPr/>
        </p:nvSpPr>
        <p:spPr>
          <a:xfrm>
            <a:off x="8439912" y="1965960"/>
            <a:ext cx="2926080" cy="868680"/>
          </a:xfrm>
          <a:prstGeom prst="rect">
            <a:avLst/>
          </a:prstGeom>
          <a:noFill/>
          <a:ln/>
        </p:spPr>
        <p:txBody>
          <a:bodyPr wrap="square" lIns="0" tIns="0" rIns="0" bIns="0" rtlCol="0" anchor="b"/>
          <a:lstStyle/>
          <a:p>
            <a:pPr indent="0" marL="0">
              <a:buNone/>
            </a:pPr>
            <a:r>
              <a:rPr lang="en-US" sz="4800" b="1" dirty="0">
                <a:solidFill>
                  <a:schemeClr val="tx1"/>
                </a:solidFill>
                <a:latin typeface="Cambria" pitchFamily="34" charset="0"/>
                <a:ea typeface="Cambria" pitchFamily="34" charset="-122"/>
                <a:cs typeface="Cambria" pitchFamily="34" charset="-120"/>
              </a:rPr>
              <a:t>7 days</a:t>
            </a:r>
            <a:endParaRPr lang="en-US" sz="4800" dirty="0"/>
          </a:p>
        </p:txBody>
      </p:sp>
      <p:sp>
        <p:nvSpPr>
          <p:cNvPr id="14" name="Text 12"/>
          <p:cNvSpPr txBox="1"/>
          <p:nvPr/>
        </p:nvSpPr>
        <p:spPr>
          <a:xfrm>
            <a:off x="8439912" y="2971800"/>
            <a:ext cx="2926080" cy="365760"/>
          </a:xfrm>
          <a:prstGeom prst="rect">
            <a:avLst/>
          </a:prstGeom>
          <a:noFill/>
          <a:ln/>
        </p:spPr>
        <p:txBody>
          <a:bodyPr wrap="square" lIns="0" tIns="0" rIns="0" bIns="0" rtlCol="0" anchor="t"/>
          <a:lstStyle/>
          <a:p>
            <a:pPr indent="0" marL="0">
              <a:buNone/>
            </a:pPr>
            <a:r>
              <a:rPr lang="en-US" sz="2000" b="1" dirty="0">
                <a:solidFill>
                  <a:schemeClr val="tx1"/>
                </a:solidFill>
              </a:rPr>
              <a:t>Cold start</a:t>
            </a:r>
            <a:endParaRPr lang="en-US" sz="2000" dirty="0"/>
          </a:p>
        </p:txBody>
      </p:sp>
      <p:sp>
        <p:nvSpPr>
          <p:cNvPr id="15" name="Text 13"/>
          <p:cNvSpPr txBox="1"/>
          <p:nvPr/>
        </p:nvSpPr>
        <p:spPr>
          <a:xfrm>
            <a:off x="8439912" y="3429000"/>
            <a:ext cx="2926080" cy="1097280"/>
          </a:xfrm>
          <a:prstGeom prst="rect">
            <a:avLst/>
          </a:prstGeom>
          <a:noFill/>
          <a:ln/>
        </p:spPr>
        <p:txBody>
          <a:bodyPr wrap="square" lIns="0" tIns="0" rIns="0" bIns="0" rtlCol="0" anchor="t"/>
          <a:lstStyle/>
          <a:p>
            <a:pPr indent="0" marL="0">
              <a:buNone/>
            </a:pPr>
            <a:r>
              <a:rPr lang="en-US" sz="1600" dirty="0">
                <a:solidFill>
                  <a:schemeClr val="tx2"/>
                </a:solidFill>
              </a:rPr>
              <a:t>of history is all a new item may have when we must forecast it</a:t>
            </a:r>
            <a:endParaRPr lang="en-US" sz="1600" dirty="0"/>
          </a:p>
        </p:txBody>
      </p:sp>
      <p:sp>
        <p:nvSpPr>
          <p:cNvPr id="16" name="Text 14"/>
          <p:cNvSpPr txBox="1"/>
          <p:nvPr/>
        </p:nvSpPr>
        <p:spPr>
          <a:xfrm>
            <a:off x="548640" y="5120640"/>
            <a:ext cx="11094415" cy="457200"/>
          </a:xfrm>
          <a:prstGeom prst="rect">
            <a:avLst/>
          </a:prstGeom>
          <a:noFill/>
          <a:ln/>
        </p:spPr>
        <p:txBody>
          <a:bodyPr wrap="square" lIns="0" tIns="0" rIns="0" bIns="0" rtlCol="0" anchor="t"/>
          <a:lstStyle/>
          <a:p>
            <a:pPr indent="0" marL="0">
              <a:buNone/>
            </a:pPr>
            <a:r>
              <a:rPr lang="en-US" sz="2000" dirty="0">
                <a:solidFill>
                  <a:schemeClr val="tx2"/>
                </a:solidFill>
              </a:rPr>
              <a:t>Safety stock is set from an </a:t>
            </a:r>
            <a:pPr indent="0" marL="0">
              <a:buNone/>
            </a:pPr>
            <a:r>
              <a:rPr lang="en-US" sz="2000" b="1" dirty="0">
                <a:solidFill>
                  <a:schemeClr val="tx1"/>
                </a:solidFill>
              </a:rPr>
              <a:t>upper quantile</a:t>
            </a:r>
            <a:pPr indent="0" marL="0">
              <a:buNone/>
            </a:pPr>
            <a:r>
              <a:rPr lang="en-US" sz="2000" dirty="0">
                <a:solidFill>
                  <a:schemeClr val="tx2"/>
                </a:solidFill>
              </a:rPr>
              <a:t>, so every model must produce calibrated intervals.</a:t>
            </a:r>
            <a:endParaRPr lang="en-US" sz="2000" dirty="0"/>
          </a:p>
        </p:txBody>
      </p:sp>
      <p:sp>
        <p:nvSpPr>
          <p:cNvPr id="18" name="Text 1"/>
          <p:cNvSpPr/>
          <p:nvPr>
            <p:ph idx="103" type="body" hasCustomPrompt="1"/>
          </p:nvPr>
        </p:nvSpPr>
        <p:spPr>
          <a:xfrm>
            <a:off x="2286000" y="6382512"/>
            <a:ext cx="8595360" cy="274320"/>
          </a:xfrm>
          <a:prstGeom prst="rect">
            <a:avLst/>
          </a:prstGeom>
          <a:noFill/>
          <a:ln/>
        </p:spPr>
        <p:txBody>
          <a:bodyPr wrap="square" lIns="0" tIns="0" rIns="0" bIns="0" rtlCol="0"/>
          <a:lstStyle/>
          <a:p>
            <a:pPr algn="l" indent="0" marL="0">
              <a:buNone/>
            </a:pP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lIns="0" tIns="0" rIns="0" bIns="0" rtlCol="0"/>
          <a:lstStyle/>
          <a:p>
            <a:pPr algn="l" indent="0" marL="0">
              <a:buNone/>
            </a:pPr>
            <a:r>
              <a:rPr lang="en-US" sz="1300" b="1" spc="200" kern="0" dirty="0">
                <a:solidFill>
                  <a:schemeClr val="accent1"/>
                </a:solidFill>
              </a:rPr>
              <a:t>THE QUESTION</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400" b="1" dirty="0">
                <a:solidFill>
                  <a:schemeClr val="tx1"/>
                </a:solidFill>
              </a:rPr>
              <a:t>Learn each product alone, or all products together?</a:t>
            </a:r>
            <a:endParaRPr lang="en-US" sz="3400" dirty="0"/>
          </a:p>
        </p:txBody>
      </p:sp>
      <p:sp>
        <p:nvSpPr>
          <p:cNvPr id="4" name="local card"/>
          <p:cNvSpPr/>
          <p:nvPr/>
        </p:nvSpPr>
        <p:spPr>
          <a:xfrm>
            <a:off x="548640" y="1691640"/>
            <a:ext cx="5394960" cy="3246120"/>
          </a:xfrm>
          <a:prstGeom prst="roundRect">
            <a:avLst>
              <a:gd name="adj" fmla="val 3380"/>
            </a:avLst>
          </a:prstGeom>
          <a:solidFill>
            <a:schemeClr val="bg2"/>
          </a:solidFill>
          <a:ln/>
        </p:spPr>
      </p:sp>
      <p:sp>
        <p:nvSpPr>
          <p:cNvPr id="5" name="Shape 3"/>
          <p:cNvSpPr/>
          <p:nvPr/>
        </p:nvSpPr>
        <p:spPr>
          <a:xfrm>
            <a:off x="914400" y="2011680"/>
            <a:ext cx="201168" cy="201168"/>
          </a:xfrm>
          <a:prstGeom prst="ellipse">
            <a:avLst/>
          </a:prstGeom>
          <a:solidFill>
            <a:schemeClr val="accent1"/>
          </a:solidFill>
          <a:ln/>
        </p:spPr>
      </p:sp>
      <p:sp>
        <p:nvSpPr>
          <p:cNvPr id="6" name="Text 4"/>
          <p:cNvSpPr txBox="1"/>
          <p:nvPr/>
        </p:nvSpPr>
        <p:spPr>
          <a:xfrm>
            <a:off x="1234440" y="1965960"/>
            <a:ext cx="2743200" cy="292608"/>
          </a:xfrm>
          <a:prstGeom prst="rect">
            <a:avLst/>
          </a:prstGeom>
          <a:noFill/>
          <a:ln/>
        </p:spPr>
        <p:txBody>
          <a:bodyPr wrap="square" lIns="0" tIns="0" rIns="0" bIns="0" rtlCol="0" anchor="t"/>
          <a:lstStyle/>
          <a:p>
            <a:pPr indent="0" marL="0">
              <a:buNone/>
            </a:pPr>
            <a:r>
              <a:rPr lang="en-US" sz="1300" b="1" spc="200" kern="0" dirty="0">
                <a:solidFill>
                  <a:schemeClr val="tx1"/>
                </a:solidFill>
              </a:rPr>
              <a:t>LOCAL</a:t>
            </a:r>
            <a:endParaRPr lang="en-US" sz="1300" dirty="0"/>
          </a:p>
        </p:txBody>
      </p:sp>
      <p:sp>
        <p:nvSpPr>
          <p:cNvPr id="7" name="Text 5"/>
          <p:cNvSpPr txBox="1"/>
          <p:nvPr/>
        </p:nvSpPr>
        <p:spPr>
          <a:xfrm>
            <a:off x="914400" y="2377440"/>
            <a:ext cx="4754880" cy="50292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Kalman filter per SKU</a:t>
            </a:r>
            <a:endParaRPr lang="en-US" sz="2400" dirty="0"/>
          </a:p>
        </p:txBody>
      </p:sp>
      <p:sp>
        <p:nvSpPr>
          <p:cNvPr id="8" name="Text 6"/>
          <p:cNvSpPr txBox="1"/>
          <p:nvPr/>
        </p:nvSpPr>
        <p:spPr>
          <a:xfrm>
            <a:off x="914400" y="3017520"/>
            <a:ext cx="4754880" cy="17373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2"/>
                </a:solidFill>
              </a:rPr>
              <a:t>Adapts fast to each item’s level</a:t>
            </a:r>
            <a:endParaRPr lang="en-US" sz="1700" dirty="0"/>
          </a:p>
          <a:p>
            <a:pPr marL="342900" indent="-342900">
              <a:spcAft>
                <a:spcPts val="600"/>
              </a:spcAft>
              <a:buSzPct val="100000"/>
              <a:buChar char="•"/>
            </a:pPr>
            <a:r>
              <a:rPr lang="en-US" sz="1700" dirty="0">
                <a:solidFill>
                  <a:schemeClr val="tx2"/>
                </a:solidFill>
              </a:rPr>
              <a:t>Exact probabilistic model</a:t>
            </a:r>
            <a:endParaRPr lang="en-US" sz="1700" dirty="0"/>
          </a:p>
          <a:p>
            <a:pPr marL="342900" indent="-342900">
              <a:spcAft>
                <a:spcPts val="600"/>
              </a:spcAft>
              <a:buSzPct val="100000"/>
              <a:buChar char="•"/>
            </a:pPr>
            <a:r>
              <a:rPr lang="en-US" sz="1700" dirty="0">
                <a:solidFill>
                  <a:schemeClr val="tx2"/>
                </a:solidFill>
              </a:rPr>
              <a:t>Stockouts handled as missing data</a:t>
            </a:r>
            <a:endParaRPr lang="en-US" sz="1700" dirty="0"/>
          </a:p>
          <a:p>
            <a:pPr marL="342900" indent="-342900">
              <a:spcAft>
                <a:spcPts val="600"/>
              </a:spcAft>
              <a:buSzPct val="100000"/>
              <a:buChar char="•"/>
            </a:pPr>
            <a:r>
              <a:rPr lang="en-US" sz="1700" dirty="0">
                <a:solidFill>
                  <a:schemeClr val="tx2"/>
                </a:solidFill>
              </a:rPr>
              <a:t>Learns every item in isolation</a:t>
            </a:r>
            <a:endParaRPr lang="en-US" sz="1700" dirty="0"/>
          </a:p>
        </p:txBody>
      </p:sp>
      <p:sp>
        <p:nvSpPr>
          <p:cNvPr id="9" name="global card"/>
          <p:cNvSpPr/>
          <p:nvPr/>
        </p:nvSpPr>
        <p:spPr>
          <a:xfrm>
            <a:off x="6248095" y="1691640"/>
            <a:ext cx="5394960" cy="3246120"/>
          </a:xfrm>
          <a:prstGeom prst="roundRect">
            <a:avLst>
              <a:gd name="adj" fmla="val 3380"/>
            </a:avLst>
          </a:prstGeom>
          <a:solidFill>
            <a:schemeClr val="bg2"/>
          </a:solidFill>
          <a:ln/>
        </p:spPr>
      </p:sp>
      <p:sp>
        <p:nvSpPr>
          <p:cNvPr id="10" name="Shape 8"/>
          <p:cNvSpPr/>
          <p:nvPr/>
        </p:nvSpPr>
        <p:spPr>
          <a:xfrm>
            <a:off x="6613855" y="2011680"/>
            <a:ext cx="201168" cy="201168"/>
          </a:xfrm>
          <a:prstGeom prst="ellipse">
            <a:avLst/>
          </a:prstGeom>
          <a:solidFill>
            <a:schemeClr val="accent2"/>
          </a:solidFill>
          <a:ln/>
        </p:spPr>
      </p:sp>
      <p:sp>
        <p:nvSpPr>
          <p:cNvPr id="11" name="Text 9"/>
          <p:cNvSpPr txBox="1"/>
          <p:nvPr/>
        </p:nvSpPr>
        <p:spPr>
          <a:xfrm>
            <a:off x="6933895" y="1965960"/>
            <a:ext cx="2743200" cy="292608"/>
          </a:xfrm>
          <a:prstGeom prst="rect">
            <a:avLst/>
          </a:prstGeom>
          <a:noFill/>
          <a:ln/>
        </p:spPr>
        <p:txBody>
          <a:bodyPr wrap="square" lIns="0" tIns="0" rIns="0" bIns="0" rtlCol="0" anchor="t"/>
          <a:lstStyle/>
          <a:p>
            <a:pPr indent="0" marL="0">
              <a:buNone/>
            </a:pPr>
            <a:r>
              <a:rPr lang="en-US" sz="1300" b="1" spc="200" kern="0" dirty="0">
                <a:solidFill>
                  <a:schemeClr val="tx1"/>
                </a:solidFill>
              </a:rPr>
              <a:t>GLOBAL</a:t>
            </a:r>
            <a:endParaRPr lang="en-US" sz="1300" dirty="0"/>
          </a:p>
        </p:txBody>
      </p:sp>
      <p:sp>
        <p:nvSpPr>
          <p:cNvPr id="12" name="Text 10"/>
          <p:cNvSpPr txBox="1"/>
          <p:nvPr/>
        </p:nvSpPr>
        <p:spPr>
          <a:xfrm>
            <a:off x="6613855" y="2377440"/>
            <a:ext cx="4754880" cy="50292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One LightGBM across all SKUs</a:t>
            </a:r>
            <a:endParaRPr lang="en-US" sz="2400" dirty="0"/>
          </a:p>
        </p:txBody>
      </p:sp>
      <p:sp>
        <p:nvSpPr>
          <p:cNvPr id="13" name="Text 11"/>
          <p:cNvSpPr txBox="1"/>
          <p:nvPr/>
        </p:nvSpPr>
        <p:spPr>
          <a:xfrm>
            <a:off x="6613855" y="3017520"/>
            <a:ext cx="4754880" cy="17373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2"/>
                </a:solidFill>
              </a:rPr>
              <a:t>Shares weekly, event and price patterns</a:t>
            </a:r>
            <a:endParaRPr lang="en-US" sz="1700" dirty="0"/>
          </a:p>
          <a:p>
            <a:pPr marL="342900" indent="-342900">
              <a:spcAft>
                <a:spcPts val="600"/>
              </a:spcAft>
              <a:buSzPct val="100000"/>
              <a:buChar char="•"/>
            </a:pPr>
            <a:r>
              <a:rPr lang="en-US" sz="1700" dirty="0">
                <a:solidFill>
                  <a:schemeClr val="tx2"/>
                </a:solidFill>
              </a:rPr>
              <a:t>Can forecast items with little history</a:t>
            </a:r>
            <a:endParaRPr lang="en-US" sz="1700" dirty="0"/>
          </a:p>
          <a:p>
            <a:pPr marL="342900" indent="-342900">
              <a:spcAft>
                <a:spcPts val="600"/>
              </a:spcAft>
              <a:buSzPct val="100000"/>
              <a:buChar char="•"/>
            </a:pPr>
            <a:r>
              <a:rPr lang="en-US" sz="1700" dirty="0">
                <a:solidFill>
                  <a:schemeClr val="tx2"/>
                </a:solidFill>
              </a:rPr>
              <a:t>Direct quantile models</a:t>
            </a:r>
            <a:endParaRPr lang="en-US" sz="1700" dirty="0"/>
          </a:p>
          <a:p>
            <a:pPr marL="342900" indent="-342900">
              <a:spcAft>
                <a:spcPts val="600"/>
              </a:spcAft>
              <a:buSzPct val="100000"/>
              <a:buChar char="•"/>
            </a:pPr>
            <a:r>
              <a:rPr lang="en-US" sz="1700" dirty="0">
                <a:solidFill>
                  <a:schemeClr val="tx2"/>
                </a:solidFill>
              </a:rPr>
              <a:t>Needs careful, leakage-safe features</a:t>
            </a:r>
            <a:endParaRPr lang="en-US" sz="1700" dirty="0"/>
          </a:p>
        </p:txBody>
      </p:sp>
      <p:sp>
        <p:nvSpPr>
          <p:cNvPr id="14" name="Text 12"/>
          <p:cNvSpPr txBox="1"/>
          <p:nvPr/>
        </p:nvSpPr>
        <p:spPr>
          <a:xfrm>
            <a:off x="548640" y="5257800"/>
            <a:ext cx="11094415" cy="457200"/>
          </a:xfrm>
          <a:prstGeom prst="rect">
            <a:avLst/>
          </a:prstGeom>
          <a:noFill/>
          <a:ln/>
        </p:spPr>
        <p:txBody>
          <a:bodyPr wrap="square" lIns="0" tIns="0" rIns="0" bIns="0" rtlCol="0" anchor="t"/>
          <a:lstStyle/>
          <a:p>
            <a:pPr indent="0" marL="0">
              <a:buNone/>
            </a:pPr>
            <a:r>
              <a:rPr lang="en-US" sz="2000" b="1" dirty="0">
                <a:solidFill>
                  <a:schemeClr val="tx1"/>
                </a:solidFill>
              </a:rPr>
              <a:t>Hypothesis: </a:t>
            </a:r>
            <a:pPr indent="0" marL="0">
              <a:buNone/>
            </a:pPr>
            <a:r>
              <a:rPr lang="en-US" sz="2000" dirty="0">
                <a:solidFill>
                  <a:schemeClr val="tx2"/>
                </a:solidFill>
              </a:rPr>
              <a:t>the global model wins most where local data is scarce: intermittent and new items.</a:t>
            </a:r>
            <a:endParaRPr lang="en-US" sz="2000" dirty="0"/>
          </a:p>
        </p:txBody>
      </p:sp>
      <p:sp>
        <p:nvSpPr>
          <p:cNvPr id="16" name="Text 1"/>
          <p:cNvSpPr/>
          <p:nvPr>
            <p:ph idx="103" type="body" hasCustomPrompt="1"/>
          </p:nvPr>
        </p:nvSpPr>
        <p:spPr>
          <a:xfrm>
            <a:off x="2286000" y="6382512"/>
            <a:ext cx="8595360" cy="274320"/>
          </a:xfrm>
          <a:prstGeom prst="rect">
            <a:avLst/>
          </a:prstGeom>
          <a:noFill/>
          <a:ln/>
        </p:spPr>
        <p:txBody>
          <a:bodyPr wrap="square" lIns="0" tIns="0" rIns="0" bIns="0" rtlCol="0"/>
          <a:lstStyle/>
          <a:p>
            <a:pPr algn="l" indent="0" marL="0">
              <a:buNone/>
            </a:pP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lIns="0" tIns="0" rIns="0" bIns="0" rtlCol="0"/>
          <a:lstStyle/>
          <a:p>
            <a:pPr algn="l" indent="0" marL="0">
              <a:buNone/>
            </a:pPr>
            <a:r>
              <a:rPr lang="en-US" sz="1300" b="1" spc="200" kern="0" dirty="0">
                <a:solidFill>
                  <a:schemeClr val="accent1"/>
                </a:solidFill>
              </a:rPr>
              <a:t>DATA</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400" b="1" dirty="0">
                <a:solidFill>
                  <a:schemeClr val="tx1"/>
                </a:solidFill>
              </a:rPr>
              <a:t>A balanced sample of M5 Walmart sales</a:t>
            </a:r>
            <a:endParaRPr lang="en-US" sz="3400" dirty="0"/>
          </a:p>
        </p:txBody>
      </p:sp>
      <p:sp>
        <p:nvSpPr>
          <p:cNvPr id="4" name="Text 1"/>
          <p:cNvSpPr/>
          <p:nvPr>
            <p:ph idx="103" type="body" hasCustomPrompt="1"/>
          </p:nvPr>
        </p:nvSpPr>
        <p:spPr>
          <a:xfrm>
            <a:off x="2286000" y="6382512"/>
            <a:ext cx="8595360" cy="274320"/>
          </a:xfrm>
          <a:prstGeom prst="rect">
            <a:avLst/>
          </a:prstGeom>
          <a:noFill/>
          <a:ln/>
        </p:spPr>
        <p:txBody>
          <a:bodyPr wrap="square" lIns="0" tIns="0" rIns="0" bIns="0" rtlCol="0"/>
          <a:lstStyle/>
          <a:p>
            <a:pPr algn="l" indent="0" marL="0">
              <a:buNone/>
            </a:pPr>
            <a:r>
              <a:rPr lang="en-US" sz="1100" dirty="0">
                <a:solidFill>
                  <a:schemeClr val="tx2"/>
                </a:solidFill>
              </a:rPr>
              <a:t>Classes: Syntetos, Boylan &amp; Croston (2005), ADI 1.32 / CV² 0.49</a:t>
            </a:r>
            <a:endParaRPr lang="en-US" sz="1100" dirty="0"/>
          </a:p>
        </p:txBody>
      </p:sp>
      <p:sp>
        <p:nvSpPr>
          <p:cNvPr id="5" name="Text 3"/>
          <p:cNvSpPr txBox="1"/>
          <p:nvPr/>
        </p:nvSpPr>
        <p:spPr>
          <a:xfrm>
            <a:off x="548640" y="1691640"/>
            <a:ext cx="4754880" cy="685800"/>
          </a:xfrm>
          <a:prstGeom prst="rect">
            <a:avLst/>
          </a:prstGeom>
          <a:noFill/>
          <a:ln/>
        </p:spPr>
        <p:txBody>
          <a:bodyPr wrap="square" lIns="0" tIns="0" rIns="0" bIns="0" rtlCol="0" anchor="b"/>
          <a:lstStyle/>
          <a:p>
            <a:pPr indent="0" marL="0">
              <a:buNone/>
            </a:pPr>
            <a:r>
              <a:rPr lang="en-US" sz="4000" b="1" dirty="0">
                <a:solidFill>
                  <a:schemeClr val="tx1"/>
                </a:solidFill>
                <a:latin typeface="Cambria" pitchFamily="34" charset="0"/>
                <a:ea typeface="Cambria" pitchFamily="34" charset="-122"/>
                <a:cs typeface="Cambria" pitchFamily="34" charset="-120"/>
              </a:rPr>
              <a:t>30,490</a:t>
            </a:r>
            <a:endParaRPr lang="en-US" sz="4000" dirty="0"/>
          </a:p>
        </p:txBody>
      </p:sp>
      <p:sp>
        <p:nvSpPr>
          <p:cNvPr id="6" name="Text 4"/>
          <p:cNvSpPr txBox="1"/>
          <p:nvPr/>
        </p:nvSpPr>
        <p:spPr>
          <a:xfrm>
            <a:off x="548640" y="2423160"/>
            <a:ext cx="4754880" cy="566928"/>
          </a:xfrm>
          <a:prstGeom prst="rect">
            <a:avLst/>
          </a:prstGeom>
          <a:noFill/>
          <a:ln/>
        </p:spPr>
        <p:txBody>
          <a:bodyPr wrap="square" lIns="0" tIns="0" rIns="0" bIns="0" rtlCol="0" anchor="t"/>
          <a:lstStyle/>
          <a:p>
            <a:pPr indent="0" marL="0">
              <a:buNone/>
            </a:pPr>
            <a:r>
              <a:rPr lang="en-US" sz="1500" dirty="0">
                <a:solidFill>
                  <a:schemeClr val="tx2"/>
                </a:solidFill>
              </a:rPr>
              <a:t>item-store series in M5, 1,941 days each</a:t>
            </a:r>
            <a:endParaRPr lang="en-US" sz="1500" dirty="0"/>
          </a:p>
        </p:txBody>
      </p:sp>
      <p:sp>
        <p:nvSpPr>
          <p:cNvPr id="7" name="Text 5"/>
          <p:cNvSpPr txBox="1"/>
          <p:nvPr/>
        </p:nvSpPr>
        <p:spPr>
          <a:xfrm>
            <a:off x="548640" y="3063240"/>
            <a:ext cx="4754880" cy="685800"/>
          </a:xfrm>
          <a:prstGeom prst="rect">
            <a:avLst/>
          </a:prstGeom>
          <a:noFill/>
          <a:ln/>
        </p:spPr>
        <p:txBody>
          <a:bodyPr wrap="square" lIns="0" tIns="0" rIns="0" bIns="0" rtlCol="0" anchor="b"/>
          <a:lstStyle/>
          <a:p>
            <a:pPr indent="0" marL="0">
              <a:buNone/>
            </a:pPr>
            <a:r>
              <a:rPr lang="en-US" sz="4000" b="1" dirty="0">
                <a:solidFill>
                  <a:schemeClr val="tx1"/>
                </a:solidFill>
                <a:latin typeface="Cambria" pitchFamily="34" charset="0"/>
                <a:ea typeface="Cambria" pitchFamily="34" charset="-122"/>
                <a:cs typeface="Cambria" pitchFamily="34" charset="-120"/>
              </a:rPr>
              <a:t>1,500</a:t>
            </a:r>
            <a:endParaRPr lang="en-US" sz="4000" dirty="0"/>
          </a:p>
        </p:txBody>
      </p:sp>
      <p:sp>
        <p:nvSpPr>
          <p:cNvPr id="8" name="Text 6"/>
          <p:cNvSpPr txBox="1"/>
          <p:nvPr/>
        </p:nvSpPr>
        <p:spPr>
          <a:xfrm>
            <a:off x="548640" y="3794760"/>
            <a:ext cx="4754880" cy="566928"/>
          </a:xfrm>
          <a:prstGeom prst="rect">
            <a:avLst/>
          </a:prstGeom>
          <a:noFill/>
          <a:ln/>
        </p:spPr>
        <p:txBody>
          <a:bodyPr wrap="square" lIns="0" tIns="0" rIns="0" bIns="0" rtlCol="0" anchor="t"/>
          <a:lstStyle/>
          <a:p>
            <a:pPr indent="0" marL="0">
              <a:buNone/>
            </a:pPr>
            <a:r>
              <a:rPr lang="en-US" sz="1500" dirty="0">
                <a:solidFill>
                  <a:schemeClr val="tx2"/>
                </a:solidFill>
              </a:rPr>
              <a:t>sampled from CA_1, TX_1 and WI_1, balanced over category × demand class (pre-backtest data only)</a:t>
            </a:r>
            <a:endParaRPr lang="en-US" sz="1500" dirty="0"/>
          </a:p>
        </p:txBody>
      </p:sp>
      <p:sp>
        <p:nvSpPr>
          <p:cNvPr id="9" name="Text 7"/>
          <p:cNvSpPr txBox="1"/>
          <p:nvPr/>
        </p:nvSpPr>
        <p:spPr>
          <a:xfrm>
            <a:off x="548640" y="4526280"/>
            <a:ext cx="4754880" cy="685800"/>
          </a:xfrm>
          <a:prstGeom prst="rect">
            <a:avLst/>
          </a:prstGeom>
          <a:noFill/>
          <a:ln/>
        </p:spPr>
        <p:txBody>
          <a:bodyPr wrap="square" lIns="0" tIns="0" rIns="0" bIns="0" rtlCol="0" anchor="b"/>
          <a:lstStyle/>
          <a:p>
            <a:pPr indent="0" marL="0">
              <a:buNone/>
            </a:pPr>
            <a:r>
              <a:rPr lang="en-US" sz="4000" b="1" dirty="0">
                <a:solidFill>
                  <a:schemeClr val="tx1"/>
                </a:solidFill>
                <a:latin typeface="Cambria" pitchFamily="34" charset="0"/>
                <a:ea typeface="Cambria" pitchFamily="34" charset="-122"/>
                <a:cs typeface="Cambria" pitchFamily="34" charset="-120"/>
              </a:rPr>
              <a:t>150</a:t>
            </a:r>
            <a:endParaRPr lang="en-US" sz="4000" dirty="0"/>
          </a:p>
        </p:txBody>
      </p:sp>
      <p:sp>
        <p:nvSpPr>
          <p:cNvPr id="10" name="Text 8"/>
          <p:cNvSpPr txBox="1"/>
          <p:nvPr/>
        </p:nvSpPr>
        <p:spPr>
          <a:xfrm>
            <a:off x="548640" y="5257800"/>
            <a:ext cx="4754880" cy="566928"/>
          </a:xfrm>
          <a:prstGeom prst="rect">
            <a:avLst/>
          </a:prstGeom>
          <a:noFill/>
          <a:ln/>
        </p:spPr>
        <p:txBody>
          <a:bodyPr wrap="square" lIns="0" tIns="0" rIns="0" bIns="0" rtlCol="0" anchor="t"/>
          <a:lstStyle/>
          <a:p>
            <a:pPr indent="0" marL="0">
              <a:buNone/>
            </a:pPr>
            <a:r>
              <a:rPr lang="en-US" sz="1500" dirty="0">
                <a:solidFill>
                  <a:schemeClr val="tx2"/>
                </a:solidFill>
              </a:rPr>
              <a:t>established series turned into simulated new items (7–56 days of history)</a:t>
            </a:r>
            <a:endParaRPr lang="en-US" sz="1500" dirty="0"/>
          </a:p>
        </p:txBody>
      </p:sp>
      <p:graphicFrame>
        <p:nvGraphicFramePr>
          <p:cNvPr id="11" name="class counts" descr=""/>
          <p:cNvGraphicFramePr/>
          <p:nvPr/>
        </p:nvGraphicFramePr>
        <p:xfrm>
          <a:off x="5760720" y="1645920"/>
          <a:ext cx="5879592"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lIns="0" tIns="0" rIns="0" bIns="0" rtlCol="0"/>
          <a:lstStyle/>
          <a:p>
            <a:pPr algn="l" indent="0" marL="0">
              <a:buNone/>
            </a:pPr>
            <a:r>
              <a:rPr lang="en-US" sz="1300" b="1" spc="200" kern="0" dirty="0">
                <a:solidFill>
                  <a:schemeClr val="accent1"/>
                </a:solidFill>
              </a:rPr>
              <a:t>EXPLORATORY ANALYSIS</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400" b="1" dirty="0">
                <a:solidFill>
                  <a:schemeClr val="tx1"/>
                </a:solidFill>
              </a:rPr>
              <a:t>What the data told us to build</a:t>
            </a:r>
            <a:endParaRPr lang="en-US" sz="3400" dirty="0"/>
          </a:p>
        </p:txBody>
      </p:sp>
      <p:sp>
        <p:nvSpPr>
          <p:cNvPr id="4" name="Text 1"/>
          <p:cNvSpPr/>
          <p:nvPr>
            <p:ph idx="103" type="body" hasCustomPrompt="1"/>
          </p:nvPr>
        </p:nvSpPr>
        <p:spPr>
          <a:xfrm>
            <a:off x="2286000" y="6382512"/>
            <a:ext cx="8595360" cy="274320"/>
          </a:xfrm>
          <a:prstGeom prst="rect">
            <a:avLst/>
          </a:prstGeom>
          <a:noFill/>
          <a:ln/>
        </p:spPr>
        <p:txBody>
          <a:bodyPr wrap="square" lIns="0" tIns="0" rIns="0" bIns="0" rtlCol="0"/>
          <a:lstStyle/>
          <a:p>
            <a:pPr algn="l" indent="0" marL="0">
              <a:buNone/>
            </a:pPr>
            <a:r>
              <a:rPr lang="en-US" sz="1100" dirty="0">
                <a:solidFill>
                  <a:schemeClr val="tx2"/>
                </a:solidFill>
              </a:rPr>
              <a:t>Notebook 01_eda</a:t>
            </a:r>
            <a:endParaRPr lang="en-US" sz="1100" dirty="0"/>
          </a:p>
        </p:txBody>
      </p:sp>
      <p:graphicFrame>
        <p:nvGraphicFramePr>
          <p:cNvPr id="5" name="weekday index" descr=""/>
          <p:cNvGraphicFramePr/>
          <p:nvPr/>
        </p:nvGraphicFramePr>
        <p:xfrm>
          <a:off x="548640" y="1645920"/>
          <a:ext cx="3383280" cy="4389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month index" descr=""/>
          <p:cNvGraphicFramePr/>
          <p:nvPr/>
        </p:nvGraphicFramePr>
        <p:xfrm>
          <a:off x="4114800" y="1645920"/>
          <a:ext cx="3383280" cy="4389120"/>
        </p:xfrm>
        <a:graphic xmlns:a="http://schemas.openxmlformats.org/drawingml/2006/main">
          <a:graphicData uri="http://schemas.openxmlformats.org/drawingml/2006/chart">
            <c:chart xmlns:c="http://schemas.openxmlformats.org/drawingml/2006/chart" r:id="rId2"/>
          </a:graphicData>
        </a:graphic>
      </p:graphicFrame>
      <p:sp>
        <p:nvSpPr>
          <p:cNvPr id="7" name="finding 1"/>
          <p:cNvSpPr/>
          <p:nvPr/>
        </p:nvSpPr>
        <p:spPr>
          <a:xfrm>
            <a:off x="7863840" y="1783080"/>
            <a:ext cx="3776472" cy="932688"/>
          </a:xfrm>
          <a:prstGeom prst="roundRect">
            <a:avLst>
              <a:gd name="adj" fmla="val 11765"/>
            </a:avLst>
          </a:prstGeom>
          <a:solidFill>
            <a:schemeClr val="bg2"/>
          </a:solidFill>
          <a:ln/>
        </p:spPr>
      </p:sp>
      <p:sp>
        <p:nvSpPr>
          <p:cNvPr id="8" name="Text 4"/>
          <p:cNvSpPr txBox="1"/>
          <p:nvPr/>
        </p:nvSpPr>
        <p:spPr>
          <a:xfrm>
            <a:off x="8092440" y="1911096"/>
            <a:ext cx="3383280" cy="347472"/>
          </a:xfrm>
          <a:prstGeom prst="rect">
            <a:avLst/>
          </a:prstGeom>
          <a:noFill/>
          <a:ln/>
        </p:spPr>
        <p:txBody>
          <a:bodyPr wrap="square" lIns="0" tIns="0" rIns="0" bIns="0" rtlCol="0" anchor="t"/>
          <a:lstStyle/>
          <a:p>
            <a:pPr indent="0" marL="0">
              <a:buNone/>
            </a:pPr>
            <a:r>
              <a:rPr lang="en-US" sz="1500" b="1" dirty="0">
                <a:solidFill>
                  <a:schemeClr val="tx1"/>
                </a:solidFill>
              </a:rPr>
              <a:t>Weekends +25% vs an average day</a:t>
            </a:r>
            <a:endParaRPr lang="en-US" sz="1500" dirty="0"/>
          </a:p>
        </p:txBody>
      </p:sp>
      <p:sp>
        <p:nvSpPr>
          <p:cNvPr id="9" name="Text 5"/>
          <p:cNvSpPr txBox="1"/>
          <p:nvPr/>
        </p:nvSpPr>
        <p:spPr>
          <a:xfrm>
            <a:off x="8092440" y="2286000"/>
            <a:ext cx="3383280" cy="347472"/>
          </a:xfrm>
          <a:prstGeom prst="rect">
            <a:avLst/>
          </a:prstGeom>
          <a:noFill/>
          <a:ln/>
        </p:spPr>
        <p:txBody>
          <a:bodyPr wrap="square" lIns="0" tIns="0" rIns="0" bIns="0" rtlCol="0" anchor="t"/>
          <a:lstStyle/>
          <a:p>
            <a:pPr indent="0" marL="0">
              <a:buNone/>
            </a:pPr>
            <a:r>
              <a:rPr lang="en-US" sz="1400" dirty="0">
                <a:solidFill>
                  <a:schemeClr val="tx2"/>
                </a:solidFill>
              </a:rPr>
              <a:t>→ weekly seasonal state, day-of-week features</a:t>
            </a:r>
            <a:endParaRPr lang="en-US" sz="1400" dirty="0"/>
          </a:p>
        </p:txBody>
      </p:sp>
      <p:sp>
        <p:nvSpPr>
          <p:cNvPr id="10" name="finding 2"/>
          <p:cNvSpPr/>
          <p:nvPr/>
        </p:nvSpPr>
        <p:spPr>
          <a:xfrm>
            <a:off x="7863840" y="2862072"/>
            <a:ext cx="3776472" cy="932688"/>
          </a:xfrm>
          <a:prstGeom prst="roundRect">
            <a:avLst>
              <a:gd name="adj" fmla="val 11765"/>
            </a:avLst>
          </a:prstGeom>
          <a:solidFill>
            <a:schemeClr val="bg2"/>
          </a:solidFill>
          <a:ln/>
        </p:spPr>
      </p:sp>
      <p:sp>
        <p:nvSpPr>
          <p:cNvPr id="11" name="Text 7"/>
          <p:cNvSpPr txBox="1"/>
          <p:nvPr/>
        </p:nvSpPr>
        <p:spPr>
          <a:xfrm>
            <a:off x="8092440" y="2990088"/>
            <a:ext cx="3383280" cy="347472"/>
          </a:xfrm>
          <a:prstGeom prst="rect">
            <a:avLst/>
          </a:prstGeom>
          <a:noFill/>
          <a:ln/>
        </p:spPr>
        <p:txBody>
          <a:bodyPr wrap="square" lIns="0" tIns="0" rIns="0" bIns="0" rtlCol="0" anchor="t"/>
          <a:lstStyle/>
          <a:p>
            <a:pPr indent="0" marL="0">
              <a:buNone/>
            </a:pPr>
            <a:r>
              <a:rPr lang="en-US" sz="1500" b="1" dirty="0">
                <a:solidFill>
                  <a:schemeClr val="tx1"/>
                </a:solidFill>
              </a:rPr>
              <a:t>2/3 of series are zero on most days</a:t>
            </a:r>
            <a:endParaRPr lang="en-US" sz="1500" dirty="0"/>
          </a:p>
        </p:txBody>
      </p:sp>
      <p:sp>
        <p:nvSpPr>
          <p:cNvPr id="12" name="Text 8"/>
          <p:cNvSpPr txBox="1"/>
          <p:nvPr/>
        </p:nvSpPr>
        <p:spPr>
          <a:xfrm>
            <a:off x="8092440" y="3364992"/>
            <a:ext cx="3383280" cy="347472"/>
          </a:xfrm>
          <a:prstGeom prst="rect">
            <a:avLst/>
          </a:prstGeom>
          <a:noFill/>
          <a:ln/>
        </p:spPr>
        <p:txBody>
          <a:bodyPr wrap="square" lIns="0" tIns="0" rIns="0" bIns="0" rtlCol="0" anchor="t"/>
          <a:lstStyle/>
          <a:p>
            <a:pPr indent="0" marL="0">
              <a:buNone/>
            </a:pPr>
            <a:r>
              <a:rPr lang="en-US" sz="1400" dirty="0">
                <a:solidFill>
                  <a:schemeClr val="tx2"/>
                </a:solidFill>
              </a:rPr>
              <a:t>→ log scale, Tweedie loss, TSB baseline</a:t>
            </a:r>
            <a:endParaRPr lang="en-US" sz="1400" dirty="0"/>
          </a:p>
        </p:txBody>
      </p:sp>
      <p:sp>
        <p:nvSpPr>
          <p:cNvPr id="13" name="finding 3"/>
          <p:cNvSpPr/>
          <p:nvPr/>
        </p:nvSpPr>
        <p:spPr>
          <a:xfrm>
            <a:off x="7863840" y="3941064"/>
            <a:ext cx="3776472" cy="932688"/>
          </a:xfrm>
          <a:prstGeom prst="roundRect">
            <a:avLst>
              <a:gd name="adj" fmla="val 11765"/>
            </a:avLst>
          </a:prstGeom>
          <a:solidFill>
            <a:schemeClr val="bg2"/>
          </a:solidFill>
          <a:ln/>
        </p:spPr>
      </p:sp>
      <p:sp>
        <p:nvSpPr>
          <p:cNvPr id="14" name="Text 10"/>
          <p:cNvSpPr txBox="1"/>
          <p:nvPr/>
        </p:nvSpPr>
        <p:spPr>
          <a:xfrm>
            <a:off x="8092440" y="4069080"/>
            <a:ext cx="3383280" cy="347472"/>
          </a:xfrm>
          <a:prstGeom prst="rect">
            <a:avLst/>
          </a:prstGeom>
          <a:noFill/>
          <a:ln/>
        </p:spPr>
        <p:txBody>
          <a:bodyPr wrap="square" lIns="0" tIns="0" rIns="0" bIns="0" rtlCol="0" anchor="t"/>
          <a:lstStyle/>
          <a:p>
            <a:pPr indent="0" marL="0">
              <a:buNone/>
            </a:pPr>
            <a:r>
              <a:rPr lang="en-US" sz="1500" b="1" dirty="0">
                <a:solidFill>
                  <a:schemeClr val="tx1"/>
                </a:solidFill>
              </a:rPr>
              <a:t>SNAP days +6–16% on FOODS</a:t>
            </a:r>
            <a:endParaRPr lang="en-US" sz="1500" dirty="0"/>
          </a:p>
        </p:txBody>
      </p:sp>
      <p:sp>
        <p:nvSpPr>
          <p:cNvPr id="15" name="Text 11"/>
          <p:cNvSpPr txBox="1"/>
          <p:nvPr/>
        </p:nvSpPr>
        <p:spPr>
          <a:xfrm>
            <a:off x="8092440" y="4443984"/>
            <a:ext cx="3383280" cy="347472"/>
          </a:xfrm>
          <a:prstGeom prst="rect">
            <a:avLst/>
          </a:prstGeom>
          <a:noFill/>
          <a:ln/>
        </p:spPr>
        <p:txBody>
          <a:bodyPr wrap="square" lIns="0" tIns="0" rIns="0" bIns="0" rtlCol="0" anchor="t"/>
          <a:lstStyle/>
          <a:p>
            <a:pPr indent="0" marL="0">
              <a:buNone/>
            </a:pPr>
            <a:r>
              <a:rPr lang="en-US" sz="1400" dirty="0">
                <a:solidFill>
                  <a:schemeClr val="tx2"/>
                </a:solidFill>
              </a:rPr>
              <a:t>→ state-specific SNAP feature</a:t>
            </a:r>
            <a:endParaRPr lang="en-US" sz="1400" dirty="0"/>
          </a:p>
        </p:txBody>
      </p:sp>
      <p:sp>
        <p:nvSpPr>
          <p:cNvPr id="16" name="finding 4"/>
          <p:cNvSpPr/>
          <p:nvPr/>
        </p:nvSpPr>
        <p:spPr>
          <a:xfrm>
            <a:off x="7863840" y="5020056"/>
            <a:ext cx="3776472" cy="932688"/>
          </a:xfrm>
          <a:prstGeom prst="roundRect">
            <a:avLst>
              <a:gd name="adj" fmla="val 11765"/>
            </a:avLst>
          </a:prstGeom>
          <a:solidFill>
            <a:schemeClr val="bg2"/>
          </a:solidFill>
          <a:ln/>
        </p:spPr>
      </p:sp>
      <p:sp>
        <p:nvSpPr>
          <p:cNvPr id="17" name="Text 13"/>
          <p:cNvSpPr txBox="1"/>
          <p:nvPr/>
        </p:nvSpPr>
        <p:spPr>
          <a:xfrm>
            <a:off x="8092440" y="5148072"/>
            <a:ext cx="3383280" cy="347472"/>
          </a:xfrm>
          <a:prstGeom prst="rect">
            <a:avLst/>
          </a:prstGeom>
          <a:noFill/>
          <a:ln/>
        </p:spPr>
        <p:txBody>
          <a:bodyPr wrap="square" lIns="0" tIns="0" rIns="0" bIns="0" rtlCol="0" anchor="t"/>
          <a:lstStyle/>
          <a:p>
            <a:pPr indent="0" marL="0">
              <a:buNone/>
            </a:pPr>
            <a:r>
              <a:rPr lang="en-US" sz="1500" b="1" dirty="0">
                <a:solidFill>
                  <a:schemeClr val="tx1"/>
                </a:solidFill>
              </a:rPr>
              <a:t>Holidays −16%; closed at Christmas</a:t>
            </a:r>
            <a:endParaRPr lang="en-US" sz="1500" dirty="0"/>
          </a:p>
        </p:txBody>
      </p:sp>
      <p:sp>
        <p:nvSpPr>
          <p:cNvPr id="18" name="Text 14"/>
          <p:cNvSpPr txBox="1"/>
          <p:nvPr/>
        </p:nvSpPr>
        <p:spPr>
          <a:xfrm>
            <a:off x="8092440" y="5522976"/>
            <a:ext cx="3383280" cy="347472"/>
          </a:xfrm>
          <a:prstGeom prst="rect">
            <a:avLst/>
          </a:prstGeom>
          <a:noFill/>
          <a:ln/>
        </p:spPr>
        <p:txBody>
          <a:bodyPr wrap="square" lIns="0" tIns="0" rIns="0" bIns="0" rtlCol="0" anchor="t"/>
          <a:lstStyle/>
          <a:p>
            <a:pPr indent="0" marL="0">
              <a:buNone/>
            </a:pPr>
            <a:r>
              <a:rPr lang="en-US" sz="1400" dirty="0">
                <a:solidFill>
                  <a:schemeClr val="tx2"/>
                </a:solidFill>
              </a:rPr>
              <a:t>→ event features; non-demand zeros marked</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lIns="0" tIns="0" rIns="0" bIns="0" rtlCol="0"/>
          <a:lstStyle/>
          <a:p>
            <a:pPr algn="l" indent="0" marL="0">
              <a:buNone/>
            </a:pPr>
            <a:r>
              <a:rPr lang="en-US" sz="1300" b="1" spc="200" kern="0" dirty="0">
                <a:solidFill>
                  <a:schemeClr val="accent1"/>
                </a:solidFill>
              </a:rPr>
              <a:t>STOCKOUTS</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400" b="1" dirty="0">
                <a:solidFill>
                  <a:schemeClr val="tx1"/>
                </a:solidFill>
              </a:rPr>
              <a:t>Mark suspicious zeros, never impute them</a:t>
            </a:r>
            <a:endParaRPr lang="en-US" sz="3400" dirty="0"/>
          </a:p>
        </p:txBody>
      </p:sp>
      <p:sp>
        <p:nvSpPr>
          <p:cNvPr id="4" name="Text 1"/>
          <p:cNvSpPr/>
          <p:nvPr>
            <p:ph idx="103" type="body" hasCustomPrompt="1"/>
          </p:nvPr>
        </p:nvSpPr>
        <p:spPr>
          <a:xfrm>
            <a:off x="2286000" y="6382512"/>
            <a:ext cx="8595360" cy="274320"/>
          </a:xfrm>
          <a:prstGeom prst="rect">
            <a:avLst/>
          </a:prstGeom>
          <a:noFill/>
          <a:ln/>
        </p:spPr>
        <p:txBody>
          <a:bodyPr wrap="square" lIns="0" tIns="0" rIns="0" bIns="0" rtlCol="0"/>
          <a:lstStyle/>
          <a:p>
            <a:pPr algn="l" indent="0" marL="0">
              <a:buNone/>
            </a:pPr>
            <a:r>
              <a:rPr lang="en-US" sz="1100" dirty="0">
                <a:solidFill>
                  <a:schemeClr val="tx2"/>
                </a:solidFill>
              </a:rPr>
              <a:t>13.7% of observed days flagged; 10–18% across p* = 10⁻⁵ … 10⁻²</a:t>
            </a:r>
            <a:endParaRPr lang="en-US" sz="1100" dirty="0"/>
          </a:p>
        </p:txBody>
      </p:sp>
      <p:sp>
        <p:nvSpPr>
          <p:cNvPr id="5" name="rule card"/>
          <p:cNvSpPr/>
          <p:nvPr/>
        </p:nvSpPr>
        <p:spPr>
          <a:xfrm>
            <a:off x="548640" y="1691640"/>
            <a:ext cx="5120640" cy="1965960"/>
          </a:xfrm>
          <a:prstGeom prst="roundRect">
            <a:avLst>
              <a:gd name="adj" fmla="val 5581"/>
            </a:avLst>
          </a:prstGeom>
          <a:solidFill>
            <a:schemeClr val="tx1"/>
          </a:solidFill>
          <a:ln/>
        </p:spPr>
      </p:sp>
      <p:sp>
        <p:nvSpPr>
          <p:cNvPr id="6" name="Text 4"/>
          <p:cNvSpPr txBox="1"/>
          <p:nvPr/>
        </p:nvSpPr>
        <p:spPr>
          <a:xfrm>
            <a:off x="868680" y="1874520"/>
            <a:ext cx="3657600" cy="274320"/>
          </a:xfrm>
          <a:prstGeom prst="rect">
            <a:avLst/>
          </a:prstGeom>
          <a:noFill/>
          <a:ln/>
        </p:spPr>
        <p:txBody>
          <a:bodyPr wrap="square" lIns="0" tIns="0" rIns="0" bIns="0" rtlCol="0" anchor="t"/>
          <a:lstStyle/>
          <a:p>
            <a:pPr indent="0" marL="0">
              <a:buNone/>
            </a:pPr>
            <a:r>
              <a:rPr lang="en-US" sz="1300" b="1" spc="200" kern="0" dirty="0">
                <a:solidFill>
                  <a:schemeClr val="bg2"/>
                </a:solidFill>
              </a:rPr>
              <a:t>THE RULE</a:t>
            </a:r>
            <a:endParaRPr lang="en-US" sz="1300" dirty="0"/>
          </a:p>
        </p:txBody>
      </p:sp>
      <p:sp>
        <p:nvSpPr>
          <p:cNvPr id="7" name="Text 5"/>
          <p:cNvSpPr txBox="1"/>
          <p:nvPr/>
        </p:nvSpPr>
        <p:spPr>
          <a:xfrm>
            <a:off x="868680" y="2212848"/>
            <a:ext cx="4572000" cy="502920"/>
          </a:xfrm>
          <a:prstGeom prst="rect">
            <a:avLst/>
          </a:prstGeom>
          <a:noFill/>
          <a:ln/>
        </p:spPr>
        <p:txBody>
          <a:bodyPr wrap="square" lIns="0" tIns="0" rIns="0" bIns="0" rtlCol="0" anchor="t"/>
          <a:lstStyle/>
          <a:p>
            <a:pPr indent="0" marL="0">
              <a:buNone/>
            </a:pPr>
            <a:r>
              <a:rPr lang="en-US" sz="2400" dirty="0">
                <a:solidFill>
                  <a:schemeClr val="bg1"/>
                </a:solidFill>
                <a:latin typeface="Cambria" pitchFamily="34" charset="0"/>
                <a:ea typeface="Cambria" pitchFamily="34" charset="-122"/>
                <a:cs typeface="Cambria" pitchFamily="34" charset="-120"/>
              </a:rPr>
              <a:t>Flag a run of L zeros if  π̂₀ᴸ &lt; 10⁻³</a:t>
            </a:r>
            <a:endParaRPr lang="en-US" sz="2400" dirty="0"/>
          </a:p>
        </p:txBody>
      </p:sp>
      <p:sp>
        <p:nvSpPr>
          <p:cNvPr id="8" name="Text 6"/>
          <p:cNvSpPr txBox="1"/>
          <p:nvPr/>
        </p:nvSpPr>
        <p:spPr>
          <a:xfrm>
            <a:off x="868680" y="2807208"/>
            <a:ext cx="4526280" cy="731520"/>
          </a:xfrm>
          <a:prstGeom prst="rect">
            <a:avLst/>
          </a:prstGeom>
          <a:noFill/>
          <a:ln/>
        </p:spPr>
        <p:txBody>
          <a:bodyPr wrap="square" lIns="0" tIns="0" rIns="0" bIns="0" rtlCol="0" anchor="t"/>
          <a:lstStyle/>
          <a:p>
            <a:pPr indent="0" marL="0">
              <a:buNone/>
            </a:pPr>
            <a:r>
              <a:rPr lang="en-US" sz="1400" dirty="0">
                <a:solidFill>
                  <a:schemeClr val="bg2"/>
                </a:solidFill>
              </a:rPr>
              <a:t>π̂₀ = the item’s zero-day rate over the previous 56 in-stock days. Backward-looking, so valid at any forecast origin.</a:t>
            </a:r>
            <a:endParaRPr lang="en-US" sz="1400" dirty="0"/>
          </a:p>
        </p:txBody>
      </p:sp>
      <p:graphicFrame>
        <p:nvGraphicFramePr>
          <p:cNvPr id="7" name="stockout usage table"/>
          <p:cNvGraphicFramePr>
            <a:graphicFrameLocks noGrp="1"/>
          </p:cNvGraphicFramePr>
          <p:nvPr>
            <p:extLst>
              <p:ext uri="{D42A27DB-BD31-4B8C-83A1-F6EECF244321}">
                <p14:modId xmlns:p14="http://schemas.microsoft.com/office/powerpoint/2010/main" val="1579011935"/>
              </p:ext>
            </p:extLst>
          </p:nvPr>
        </p:nvGraphicFramePr>
        <p:xfrm>
          <a:off x="548640" y="3931920"/>
          <a:ext cx="5120640" cy="914400"/>
        </p:xfrm>
        <a:graphic>
          <a:graphicData uri="http://schemas.openxmlformats.org/drawingml/2006/table">
            <a:tbl>
              <a:tblPr/>
              <a:tblGrid>
                <a:gridCol w="1645920"/>
                <a:gridCol w="3474720"/>
              </a:tblGrid>
              <a:tr h="384048">
                <a:tc>
                  <a:txBody>
                    <a:bodyPr/>
                    <a:lstStyle/>
                    <a:p>
                      <a:pPr indent="0" marL="0">
                        <a:buNone/>
                      </a:pPr>
                      <a:r>
                        <a:rPr lang="en-US" sz="1500" b="1" dirty="0">
                          <a:solidFill>
                            <a:schemeClr val="tx1"/>
                          </a:solidFill>
                        </a:rPr>
                        <a:t>Component</a:t>
                      </a:r>
                      <a:endParaRPr lang="en-US" sz="1500" dirty="0"/>
                    </a:p>
                  </a:txBody>
                  <a:tcPr marL="73152" marR="73152" marT="73152" marB="73152">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A flagged day is…</a:t>
                      </a:r>
                      <a:endParaRPr lang="en-US" sz="1500" dirty="0"/>
                    </a:p>
                  </a:txBody>
                  <a:tcPr marL="73152" marR="73152" marT="73152" marB="73152">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solidFill>
                      <a:schemeClr val="bg2"/>
                    </a:solidFill>
                  </a:tcPr>
                </a:tc>
              </a:tr>
              <a:tr h="384048">
                <a:tc>
                  <a:txBody>
                    <a:bodyPr/>
                    <a:lstStyle/>
                    <a:p>
                      <a:pPr indent="0" marL="0">
                        <a:buNone/>
                      </a:pPr>
                      <a:r>
                        <a:rPr lang="en-US" sz="1500" dirty="0">
                          <a:solidFill>
                            <a:schemeClr val="tx2"/>
                          </a:solidFill>
                        </a:rPr>
                        <a:t>Kalman filter</a:t>
                      </a:r>
                      <a:endParaRPr lang="en-US" sz="1500" dirty="0"/>
                    </a:p>
                  </a:txBody>
                  <a:tcPr marL="73152" marR="73152" marT="73152" marB="73152">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indent="0" marL="0">
                        <a:buNone/>
                      </a:pPr>
                      <a:r>
                        <a:rPr lang="en-US" sz="1500" dirty="0">
                          <a:solidFill>
                            <a:schemeClr val="tx2"/>
                          </a:solidFill>
                        </a:rPr>
                        <a:t>missing: update step skipped (exact)</a:t>
                      </a:r>
                      <a:endParaRPr lang="en-US" sz="1500" dirty="0"/>
                    </a:p>
                  </a:txBody>
                  <a:tcPr marL="73152" marR="73152" marT="73152" marB="73152">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r>
              <a:tr h="384048">
                <a:tc>
                  <a:txBody>
                    <a:bodyPr/>
                    <a:lstStyle/>
                    <a:p>
                      <a:pPr indent="0" marL="0">
                        <a:buNone/>
                      </a:pPr>
                      <a:r>
                        <a:rPr lang="en-US" sz="1500" dirty="0">
                          <a:solidFill>
                            <a:schemeClr val="tx2"/>
                          </a:solidFill>
                        </a:rPr>
                        <a:t>LightGBM</a:t>
                      </a:r>
                      <a:endParaRPr lang="en-US" sz="1500" dirty="0"/>
                    </a:p>
                  </a:txBody>
                  <a:tcPr marL="73152" marR="73152" marT="73152" marB="73152">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indent="0" marL="0">
                        <a:buNone/>
                      </a:pPr>
                      <a:r>
                        <a:rPr lang="en-US" sz="1500" dirty="0">
                          <a:solidFill>
                            <a:schemeClr val="tx2"/>
                          </a:solidFill>
                        </a:rPr>
                        <a:t>dropped from the training loss</a:t>
                      </a:r>
                      <a:endParaRPr lang="en-US" sz="1500" dirty="0"/>
                    </a:p>
                  </a:txBody>
                  <a:tcPr marL="73152" marR="73152" marT="73152" marB="73152">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r>
              <a:tr h="384048">
                <a:tc>
                  <a:txBody>
                    <a:bodyPr/>
                    <a:lstStyle/>
                    <a:p>
                      <a:pPr indent="0" marL="0">
                        <a:buNone/>
                      </a:pPr>
                      <a:r>
                        <a:rPr lang="en-US" sz="1500" dirty="0">
                          <a:solidFill>
                            <a:schemeClr val="tx2"/>
                          </a:solidFill>
                        </a:rPr>
                        <a:t>Evaluation</a:t>
                      </a:r>
                      <a:endParaRPr lang="en-US" sz="1500" dirty="0"/>
                    </a:p>
                  </a:txBody>
                  <a:tcPr marL="73152" marR="73152" marT="73152" marB="73152">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indent="0" marL="0">
                        <a:buNone/>
                      </a:pPr>
                      <a:r>
                        <a:rPr lang="en-US" sz="1500" dirty="0">
                          <a:solidFill>
                            <a:schemeClr val="tx2"/>
                          </a:solidFill>
                        </a:rPr>
                        <a:t>reported raw and masked</a:t>
                      </a:r>
                      <a:endParaRPr lang="en-US" sz="1500" dirty="0"/>
                    </a:p>
                  </a:txBody>
                  <a:tcPr marL="73152" marR="73152" marT="73152" marB="73152">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r>
            </a:tbl>
          </a:graphicData>
        </a:graphic>
      </p:graphicFrame>
      <p:pic>
        <p:nvPicPr>
          <p:cNvPr id="10" name="stockout_examples.png" descr="Two sales series with flagged stockout runs highlighted; the intermittent series needs a much longer zero run to be flagged">    </p:cNvPr>
          <p:cNvPicPr>
            <a:picLocks noChangeAspect="1"/>
          </p:cNvPicPr>
          <p:nvPr/>
        </p:nvPicPr>
        <p:blipFill>
          <a:blip r:embed="rId1"/>
          <a:stretch>
            <a:fillRect/>
          </a:stretch>
        </p:blipFill>
        <p:spPr>
          <a:xfrm>
            <a:off x="5943600" y="2181894"/>
            <a:ext cx="5696712" cy="3454332"/>
          </a:xfrm>
          <a:prstGeom prst="rect">
            <a:avLst/>
          </a:prstGeom>
        </p:spPr>
      </p:pic>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lIns="0" tIns="0" rIns="0" bIns="0" rtlCol="0"/>
          <a:lstStyle/>
          <a:p>
            <a:pPr algn="l" indent="0" marL="0">
              <a:buNone/>
            </a:pPr>
            <a:r>
              <a:rPr lang="en-US" sz="1300" b="1" spc="200" kern="0" dirty="0">
                <a:solidFill>
                  <a:schemeClr val="accent1"/>
                </a:solidFill>
              </a:rPr>
              <a:t>FAIR COMPARISON</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400" b="1" dirty="0">
                <a:solidFill>
                  <a:schemeClr val="tx1"/>
                </a:solidFill>
              </a:rPr>
              <a:t>Five rolling origins, identical cells for every model</a:t>
            </a:r>
            <a:endParaRPr lang="en-US" sz="3400" dirty="0"/>
          </a:p>
        </p:txBody>
      </p:sp>
      <p:sp>
        <p:nvSpPr>
          <p:cNvPr id="4" name="Text 1"/>
          <p:cNvSpPr/>
          <p:nvPr>
            <p:ph idx="103" type="body" hasCustomPrompt="1"/>
          </p:nvPr>
        </p:nvSpPr>
        <p:spPr>
          <a:xfrm>
            <a:off x="2286000" y="6382512"/>
            <a:ext cx="8595360" cy="274320"/>
          </a:xfrm>
          <a:prstGeom prst="rect">
            <a:avLst/>
          </a:prstGeom>
          <a:noFill/>
          <a:ln/>
        </p:spPr>
        <p:txBody>
          <a:bodyPr wrap="square" lIns="0" tIns="0" rIns="0" bIns="0" rtlCol="0"/>
          <a:lstStyle/>
          <a:p>
            <a:pPr algn="l" indent="0" marL="0">
              <a:buNone/>
            </a:pPr>
            <a:r>
              <a:rPr lang="en-US" sz="1100" dirty="0">
                <a:solidFill>
                  <a:schemeClr val="tx2"/>
                </a:solidFill>
              </a:rPr>
              <a:t>Tashman (2000); Gneiting (2011)</a:t>
            </a:r>
            <a:endParaRPr lang="en-US" sz="1100" dirty="0"/>
          </a:p>
        </p:txBody>
      </p:sp>
      <p:sp>
        <p:nvSpPr>
          <p:cNvPr id="5" name="Text 3"/>
          <p:cNvSpPr txBox="1"/>
          <p:nvPr/>
        </p:nvSpPr>
        <p:spPr>
          <a:xfrm>
            <a:off x="548640" y="1847088"/>
            <a:ext cx="1005840" cy="310896"/>
          </a:xfrm>
          <a:prstGeom prst="rect">
            <a:avLst/>
          </a:prstGeom>
          <a:noFill/>
          <a:ln/>
        </p:spPr>
        <p:txBody>
          <a:bodyPr wrap="square" lIns="0" tIns="0" rIns="0" bIns="0" rtlCol="0" anchor="ctr"/>
          <a:lstStyle/>
          <a:p>
            <a:pPr indent="0" marL="0">
              <a:buNone/>
            </a:pPr>
            <a:r>
              <a:rPr lang="en-US" sz="1400" dirty="0">
                <a:solidFill>
                  <a:schemeClr val="tx2"/>
                </a:solidFill>
              </a:rPr>
              <a:t>cut d_1801</a:t>
            </a:r>
            <a:endParaRPr lang="en-US" sz="1400" dirty="0"/>
          </a:p>
        </p:txBody>
      </p:sp>
      <p:sp>
        <p:nvSpPr>
          <p:cNvPr id="6" name="Shape 4"/>
          <p:cNvSpPr/>
          <p:nvPr/>
        </p:nvSpPr>
        <p:spPr>
          <a:xfrm>
            <a:off x="1600200" y="1828800"/>
            <a:ext cx="2194560" cy="347472"/>
          </a:xfrm>
          <a:prstGeom prst="rect">
            <a:avLst/>
          </a:prstGeom>
          <a:solidFill>
            <a:srgbClr val="C9CFD9"/>
          </a:solidFill>
          <a:ln/>
        </p:spPr>
      </p:sp>
      <p:sp>
        <p:nvSpPr>
          <p:cNvPr id="7" name="Shape 5"/>
          <p:cNvSpPr/>
          <p:nvPr/>
        </p:nvSpPr>
        <p:spPr>
          <a:xfrm>
            <a:off x="3794760" y="1828800"/>
            <a:ext cx="566928" cy="347472"/>
          </a:xfrm>
          <a:prstGeom prst="rect">
            <a:avLst/>
          </a:prstGeom>
          <a:solidFill>
            <a:schemeClr val="accent2"/>
          </a:solidFill>
          <a:ln/>
        </p:spPr>
      </p:sp>
      <p:sp>
        <p:nvSpPr>
          <p:cNvPr id="8" name="Text 6"/>
          <p:cNvSpPr txBox="1"/>
          <p:nvPr/>
        </p:nvSpPr>
        <p:spPr>
          <a:xfrm>
            <a:off x="548640" y="2395728"/>
            <a:ext cx="1005840" cy="310896"/>
          </a:xfrm>
          <a:prstGeom prst="rect">
            <a:avLst/>
          </a:prstGeom>
          <a:noFill/>
          <a:ln/>
        </p:spPr>
        <p:txBody>
          <a:bodyPr wrap="square" lIns="0" tIns="0" rIns="0" bIns="0" rtlCol="0" anchor="ctr"/>
          <a:lstStyle/>
          <a:p>
            <a:pPr indent="0" marL="0">
              <a:buNone/>
            </a:pPr>
            <a:r>
              <a:rPr lang="en-US" sz="1400" dirty="0">
                <a:solidFill>
                  <a:schemeClr val="tx2"/>
                </a:solidFill>
              </a:rPr>
              <a:t>cut d_1829</a:t>
            </a:r>
            <a:endParaRPr lang="en-US" sz="1400" dirty="0"/>
          </a:p>
        </p:txBody>
      </p:sp>
      <p:sp>
        <p:nvSpPr>
          <p:cNvPr id="9" name="Shape 7"/>
          <p:cNvSpPr/>
          <p:nvPr/>
        </p:nvSpPr>
        <p:spPr>
          <a:xfrm>
            <a:off x="1600200" y="2377440"/>
            <a:ext cx="2761488" cy="347472"/>
          </a:xfrm>
          <a:prstGeom prst="rect">
            <a:avLst/>
          </a:prstGeom>
          <a:solidFill>
            <a:srgbClr val="C9CFD9"/>
          </a:solidFill>
          <a:ln/>
        </p:spPr>
      </p:sp>
      <p:sp>
        <p:nvSpPr>
          <p:cNvPr id="10" name="Shape 8"/>
          <p:cNvSpPr/>
          <p:nvPr/>
        </p:nvSpPr>
        <p:spPr>
          <a:xfrm>
            <a:off x="4361688" y="2377440"/>
            <a:ext cx="566928" cy="347472"/>
          </a:xfrm>
          <a:prstGeom prst="rect">
            <a:avLst/>
          </a:prstGeom>
          <a:solidFill>
            <a:schemeClr val="accent2"/>
          </a:solidFill>
          <a:ln/>
        </p:spPr>
      </p:sp>
      <p:sp>
        <p:nvSpPr>
          <p:cNvPr id="11" name="Text 9"/>
          <p:cNvSpPr txBox="1"/>
          <p:nvPr/>
        </p:nvSpPr>
        <p:spPr>
          <a:xfrm>
            <a:off x="548640" y="2944368"/>
            <a:ext cx="1005840" cy="310896"/>
          </a:xfrm>
          <a:prstGeom prst="rect">
            <a:avLst/>
          </a:prstGeom>
          <a:noFill/>
          <a:ln/>
        </p:spPr>
        <p:txBody>
          <a:bodyPr wrap="square" lIns="0" tIns="0" rIns="0" bIns="0" rtlCol="0" anchor="ctr"/>
          <a:lstStyle/>
          <a:p>
            <a:pPr indent="0" marL="0">
              <a:buNone/>
            </a:pPr>
            <a:r>
              <a:rPr lang="en-US" sz="1400" dirty="0">
                <a:solidFill>
                  <a:schemeClr val="tx2"/>
                </a:solidFill>
              </a:rPr>
              <a:t>cut d_1857</a:t>
            </a:r>
            <a:endParaRPr lang="en-US" sz="1400" dirty="0"/>
          </a:p>
        </p:txBody>
      </p:sp>
      <p:sp>
        <p:nvSpPr>
          <p:cNvPr id="12" name="Shape 10"/>
          <p:cNvSpPr/>
          <p:nvPr/>
        </p:nvSpPr>
        <p:spPr>
          <a:xfrm>
            <a:off x="1600200" y="2926080"/>
            <a:ext cx="3328416" cy="347472"/>
          </a:xfrm>
          <a:prstGeom prst="rect">
            <a:avLst/>
          </a:prstGeom>
          <a:solidFill>
            <a:srgbClr val="C9CFD9"/>
          </a:solidFill>
          <a:ln/>
        </p:spPr>
      </p:sp>
      <p:sp>
        <p:nvSpPr>
          <p:cNvPr id="13" name="Shape 11"/>
          <p:cNvSpPr/>
          <p:nvPr/>
        </p:nvSpPr>
        <p:spPr>
          <a:xfrm>
            <a:off x="4928616" y="2926080"/>
            <a:ext cx="566928" cy="347472"/>
          </a:xfrm>
          <a:prstGeom prst="rect">
            <a:avLst/>
          </a:prstGeom>
          <a:solidFill>
            <a:schemeClr val="accent2"/>
          </a:solidFill>
          <a:ln/>
        </p:spPr>
      </p:sp>
      <p:sp>
        <p:nvSpPr>
          <p:cNvPr id="14" name="Text 12"/>
          <p:cNvSpPr txBox="1"/>
          <p:nvPr/>
        </p:nvSpPr>
        <p:spPr>
          <a:xfrm>
            <a:off x="548640" y="3493008"/>
            <a:ext cx="1005840" cy="310896"/>
          </a:xfrm>
          <a:prstGeom prst="rect">
            <a:avLst/>
          </a:prstGeom>
          <a:noFill/>
          <a:ln/>
        </p:spPr>
        <p:txBody>
          <a:bodyPr wrap="square" lIns="0" tIns="0" rIns="0" bIns="0" rtlCol="0" anchor="ctr"/>
          <a:lstStyle/>
          <a:p>
            <a:pPr indent="0" marL="0">
              <a:buNone/>
            </a:pPr>
            <a:r>
              <a:rPr lang="en-US" sz="1400" dirty="0">
                <a:solidFill>
                  <a:schemeClr val="tx2"/>
                </a:solidFill>
              </a:rPr>
              <a:t>cut d_1885</a:t>
            </a:r>
            <a:endParaRPr lang="en-US" sz="1400" dirty="0"/>
          </a:p>
        </p:txBody>
      </p:sp>
      <p:sp>
        <p:nvSpPr>
          <p:cNvPr id="15" name="Shape 13"/>
          <p:cNvSpPr/>
          <p:nvPr/>
        </p:nvSpPr>
        <p:spPr>
          <a:xfrm>
            <a:off x="1600200" y="3474720"/>
            <a:ext cx="3895344" cy="347472"/>
          </a:xfrm>
          <a:prstGeom prst="rect">
            <a:avLst/>
          </a:prstGeom>
          <a:solidFill>
            <a:srgbClr val="C9CFD9"/>
          </a:solidFill>
          <a:ln/>
        </p:spPr>
      </p:sp>
      <p:sp>
        <p:nvSpPr>
          <p:cNvPr id="16" name="Shape 14"/>
          <p:cNvSpPr/>
          <p:nvPr/>
        </p:nvSpPr>
        <p:spPr>
          <a:xfrm>
            <a:off x="5495544" y="3474720"/>
            <a:ext cx="566928" cy="347472"/>
          </a:xfrm>
          <a:prstGeom prst="rect">
            <a:avLst/>
          </a:prstGeom>
          <a:solidFill>
            <a:schemeClr val="accent2"/>
          </a:solidFill>
          <a:ln/>
        </p:spPr>
      </p:sp>
      <p:sp>
        <p:nvSpPr>
          <p:cNvPr id="17" name="Text 15"/>
          <p:cNvSpPr txBox="1"/>
          <p:nvPr/>
        </p:nvSpPr>
        <p:spPr>
          <a:xfrm>
            <a:off x="548640" y="4041648"/>
            <a:ext cx="1005840" cy="310896"/>
          </a:xfrm>
          <a:prstGeom prst="rect">
            <a:avLst/>
          </a:prstGeom>
          <a:noFill/>
          <a:ln/>
        </p:spPr>
        <p:txBody>
          <a:bodyPr wrap="square" lIns="0" tIns="0" rIns="0" bIns="0" rtlCol="0" anchor="ctr"/>
          <a:lstStyle/>
          <a:p>
            <a:pPr indent="0" marL="0">
              <a:buNone/>
            </a:pPr>
            <a:r>
              <a:rPr lang="en-US" sz="1400" dirty="0">
                <a:solidFill>
                  <a:schemeClr val="tx2"/>
                </a:solidFill>
              </a:rPr>
              <a:t>cut d_1913</a:t>
            </a:r>
            <a:endParaRPr lang="en-US" sz="1400" dirty="0"/>
          </a:p>
        </p:txBody>
      </p:sp>
      <p:sp>
        <p:nvSpPr>
          <p:cNvPr id="18" name="Shape 16"/>
          <p:cNvSpPr/>
          <p:nvPr/>
        </p:nvSpPr>
        <p:spPr>
          <a:xfrm>
            <a:off x="1600200" y="4023360"/>
            <a:ext cx="4462272" cy="347472"/>
          </a:xfrm>
          <a:prstGeom prst="rect">
            <a:avLst/>
          </a:prstGeom>
          <a:solidFill>
            <a:srgbClr val="C9CFD9"/>
          </a:solidFill>
          <a:ln/>
        </p:spPr>
      </p:sp>
      <p:sp>
        <p:nvSpPr>
          <p:cNvPr id="19" name="Shape 17"/>
          <p:cNvSpPr/>
          <p:nvPr/>
        </p:nvSpPr>
        <p:spPr>
          <a:xfrm>
            <a:off x="6062472" y="4023360"/>
            <a:ext cx="566928" cy="347472"/>
          </a:xfrm>
          <a:prstGeom prst="rect">
            <a:avLst/>
          </a:prstGeom>
          <a:solidFill>
            <a:schemeClr val="accent2"/>
          </a:solidFill>
          <a:ln/>
        </p:spPr>
      </p:sp>
      <p:sp>
        <p:nvSpPr>
          <p:cNvPr id="20" name="Shape 18"/>
          <p:cNvSpPr/>
          <p:nvPr/>
        </p:nvSpPr>
        <p:spPr>
          <a:xfrm>
            <a:off x="1600200" y="4800600"/>
            <a:ext cx="228600" cy="228600"/>
          </a:xfrm>
          <a:prstGeom prst="rect">
            <a:avLst/>
          </a:prstGeom>
          <a:solidFill>
            <a:srgbClr val="C9CFD9"/>
          </a:solidFill>
          <a:ln/>
        </p:spPr>
      </p:sp>
      <p:sp>
        <p:nvSpPr>
          <p:cNvPr id="21" name="Text 19"/>
          <p:cNvSpPr txBox="1"/>
          <p:nvPr/>
        </p:nvSpPr>
        <p:spPr>
          <a:xfrm>
            <a:off x="1920240" y="4773168"/>
            <a:ext cx="2377440" cy="274320"/>
          </a:xfrm>
          <a:prstGeom prst="rect">
            <a:avLst/>
          </a:prstGeom>
          <a:noFill/>
          <a:ln/>
        </p:spPr>
        <p:txBody>
          <a:bodyPr wrap="square" lIns="0" tIns="0" rIns="0" bIns="0" rtlCol="0" anchor="t"/>
          <a:lstStyle/>
          <a:p>
            <a:pPr indent="0" marL="0">
              <a:buNone/>
            </a:pPr>
            <a:r>
              <a:rPr lang="en-US" sz="1400" dirty="0">
                <a:solidFill>
                  <a:schemeClr val="tx2"/>
                </a:solidFill>
              </a:rPr>
              <a:t>history the model may see</a:t>
            </a:r>
            <a:endParaRPr lang="en-US" sz="1400" dirty="0"/>
          </a:p>
        </p:txBody>
      </p:sp>
      <p:sp>
        <p:nvSpPr>
          <p:cNvPr id="22" name="Shape 20"/>
          <p:cNvSpPr/>
          <p:nvPr/>
        </p:nvSpPr>
        <p:spPr>
          <a:xfrm>
            <a:off x="4434840" y="4800600"/>
            <a:ext cx="228600" cy="228600"/>
          </a:xfrm>
          <a:prstGeom prst="rect">
            <a:avLst/>
          </a:prstGeom>
          <a:solidFill>
            <a:schemeClr val="accent2"/>
          </a:solidFill>
          <a:ln/>
        </p:spPr>
      </p:sp>
      <p:sp>
        <p:nvSpPr>
          <p:cNvPr id="23" name="Text 21"/>
          <p:cNvSpPr txBox="1"/>
          <p:nvPr/>
        </p:nvSpPr>
        <p:spPr>
          <a:xfrm>
            <a:off x="4754880" y="4773168"/>
            <a:ext cx="2011680" cy="274320"/>
          </a:xfrm>
          <a:prstGeom prst="rect">
            <a:avLst/>
          </a:prstGeom>
          <a:noFill/>
          <a:ln/>
        </p:spPr>
        <p:txBody>
          <a:bodyPr wrap="square" lIns="0" tIns="0" rIns="0" bIns="0" rtlCol="0" anchor="t"/>
          <a:lstStyle/>
          <a:p>
            <a:pPr indent="0" marL="0">
              <a:buNone/>
            </a:pPr>
            <a:r>
              <a:rPr lang="en-US" sz="1400" dirty="0">
                <a:solidFill>
                  <a:schemeClr val="tx2"/>
                </a:solidFill>
              </a:rPr>
              <a:t>28 forecast days</a:t>
            </a:r>
            <a:endParaRPr lang="en-US" sz="1400" dirty="0"/>
          </a:p>
        </p:txBody>
      </p:sp>
      <p:sp>
        <p:nvSpPr>
          <p:cNvPr id="24" name="Text 22"/>
          <p:cNvSpPr txBox="1"/>
          <p:nvPr/>
        </p:nvSpPr>
        <p:spPr>
          <a:xfrm>
            <a:off x="7498080" y="1783080"/>
            <a:ext cx="4142232" cy="4114800"/>
          </a:xfrm>
          <a:prstGeom prst="rect">
            <a:avLst/>
          </a:prstGeom>
          <a:noFill/>
          <a:ln/>
        </p:spPr>
        <p:txBody>
          <a:bodyPr wrap="square" lIns="0" tIns="0" rIns="0" bIns="0" rtlCol="0" anchor="t"/>
          <a:lstStyle/>
          <a:p>
            <a:pPr indent="0" marL="0">
              <a:spcAft>
                <a:spcPts val="1400"/>
              </a:spcAft>
              <a:buNone/>
            </a:pPr>
            <a:r>
              <a:rPr lang="en-US" sz="1600" dirty="0">
                <a:solidFill>
                  <a:schemeClr val="tx2"/>
                </a:solidFill>
              </a:rPr>
              <a:t>Every model is </a:t>
            </a:r>
            <a:pPr indent="0" marL="0">
              <a:spcAft>
                <a:spcPts val="1400"/>
              </a:spcAft>
              <a:buNone/>
            </a:pPr>
            <a:r>
              <a:rPr lang="en-US" sz="1600" b="1" dirty="0">
                <a:solidFill>
                  <a:schemeClr val="tx1"/>
                </a:solidFill>
              </a:rPr>
              <a:t>refit at each origin</a:t>
            </a:r>
            <a:pPr indent="0" marL="0">
              <a:spcAft>
                <a:spcPts val="1400"/>
              </a:spcAft>
              <a:buNone/>
            </a:pPr>
            <a:r>
              <a:rPr lang="en-US" sz="1600" dirty="0">
                <a:solidFill>
                  <a:schemeClr val="tx2"/>
                </a:solidFill>
              </a:rPr>
              <a:t> on a panel physically cut at that day. The last window is the official M5 test period.</a:t>
            </a:r>
            <a:endParaRPr lang="en-US" sz="1600" dirty="0"/>
          </a:p>
          <a:p>
            <a:pPr indent="0" marL="0">
              <a:spcAft>
                <a:spcPts val="1400"/>
              </a:spcAft>
              <a:buNone/>
            </a:pPr>
            <a:r>
              <a:rPr lang="en-US" sz="1600" b="1" dirty="0">
                <a:solidFill>
                  <a:schemeClr val="tx1"/>
                </a:solidFill>
              </a:rPr>
              <a:t>209,860</a:t>
            </a:r>
            <a:pPr indent="0" marL="0">
              <a:spcAft>
                <a:spcPts val="1400"/>
              </a:spcAft>
              <a:buNone/>
            </a:pPr>
            <a:r>
              <a:rPr lang="en-US" sz="1600" dirty="0">
                <a:solidFill>
                  <a:schemeClr val="tx2"/>
                </a:solidFill>
              </a:rPr>
              <a:t> scored cells per model.</a:t>
            </a:r>
            <a:endParaRPr lang="en-US" sz="1600" dirty="0"/>
          </a:p>
          <a:p>
            <a:pPr indent="0" marL="0">
              <a:spcAft>
                <a:spcPts val="1400"/>
              </a:spcAft>
              <a:buNone/>
            </a:pPr>
            <a:r>
              <a:rPr lang="en-US" sz="1600" dirty="0">
                <a:solidFill>
                  <a:schemeClr val="tx2"/>
                </a:solidFill>
              </a:rPr>
              <a:t>MAE, WAPE on the </a:t>
            </a:r>
            <a:pPr indent="0" marL="0">
              <a:spcAft>
                <a:spcPts val="1400"/>
              </a:spcAft>
              <a:buNone/>
            </a:pPr>
            <a:r>
              <a:rPr lang="en-US" sz="1600" b="1" dirty="0">
                <a:solidFill>
                  <a:schemeClr val="tx1"/>
                </a:solidFill>
              </a:rPr>
              <a:t>median</a:t>
            </a:r>
            <a:pPr indent="0" marL="0">
              <a:spcAft>
                <a:spcPts val="1400"/>
              </a:spcAft>
              <a:buNone/>
            </a:pPr>
            <a:r>
              <a:rPr lang="en-US" sz="1600" dirty="0">
                <a:solidFill>
                  <a:schemeClr val="tx2"/>
                </a:solidFill>
              </a:rPr>
              <a:t>; RMSE, RMSSE on the </a:t>
            </a:r>
            <a:pPr indent="0" marL="0">
              <a:spcAft>
                <a:spcPts val="1400"/>
              </a:spcAft>
              <a:buNone/>
            </a:pPr>
            <a:r>
              <a:rPr lang="en-US" sz="1600" b="1" dirty="0">
                <a:solidFill>
                  <a:schemeClr val="tx1"/>
                </a:solidFill>
              </a:rPr>
              <a:t>mean</a:t>
            </a:r>
            <a:pPr indent="0" marL="0">
              <a:spcAft>
                <a:spcPts val="1400"/>
              </a:spcAft>
              <a:buNone/>
            </a:pPr>
            <a:r>
              <a:rPr lang="en-US" sz="1600" dirty="0">
                <a:solidFill>
                  <a:schemeClr val="tx2"/>
                </a:solidFill>
              </a:rPr>
              <a:t>; pinball loss and scaled pinball (SPL) on 7 quantiles; 80/90% coverage.</a:t>
            </a:r>
            <a:endParaRPr lang="en-US" sz="1600" dirty="0"/>
          </a:p>
          <a:p>
            <a:pPr indent="0" marL="0">
              <a:spcAft>
                <a:spcPts val="1400"/>
              </a:spcAft>
              <a:buNone/>
            </a:pPr>
            <a:r>
              <a:rPr lang="en-US" sz="1600" dirty="0">
                <a:solidFill>
                  <a:schemeClr val="tx2"/>
                </a:solidFill>
              </a:rPr>
              <a:t>Diebold–Mariano and Wilcoxon significance tests.</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lIns="0" tIns="0" rIns="0" bIns="0" rtlCol="0"/>
          <a:lstStyle/>
          <a:p>
            <a:pPr algn="l" indent="0" marL="0">
              <a:buNone/>
            </a:pPr>
            <a:r>
              <a:rPr lang="en-US" sz="1300" b="1" spc="200" kern="0" dirty="0">
                <a:solidFill>
                  <a:schemeClr val="accent1"/>
                </a:solidFill>
              </a:rPr>
              <a:t>LOCAL MODEL</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400" b="1" dirty="0">
                <a:solidFill>
                  <a:schemeClr val="tx1"/>
                </a:solidFill>
              </a:rPr>
              <a:t>A Kalman filter per SKU, from scratch</a:t>
            </a:r>
            <a:endParaRPr lang="en-US" sz="3400" dirty="0"/>
          </a:p>
        </p:txBody>
      </p:sp>
      <p:sp>
        <p:nvSpPr>
          <p:cNvPr id="4" name="Text 1"/>
          <p:cNvSpPr/>
          <p:nvPr>
            <p:ph idx="103" type="body" hasCustomPrompt="1"/>
          </p:nvPr>
        </p:nvSpPr>
        <p:spPr>
          <a:xfrm>
            <a:off x="2286000" y="6382512"/>
            <a:ext cx="8595360" cy="274320"/>
          </a:xfrm>
          <a:prstGeom prst="rect">
            <a:avLst/>
          </a:prstGeom>
          <a:noFill/>
          <a:ln/>
        </p:spPr>
        <p:txBody>
          <a:bodyPr wrap="square" lIns="0" tIns="0" rIns="0" bIns="0" rtlCol="0"/>
          <a:lstStyle/>
          <a:p>
            <a:pPr algn="l" indent="0" marL="0">
              <a:buNone/>
            </a:pPr>
            <a:r>
              <a:rPr lang="en-US" sz="1100" dirty="0">
                <a:solidFill>
                  <a:schemeClr val="tx2"/>
                </a:solidFill>
              </a:rPr>
              <a:t>Kalman (1960); Harvey (1989); Durbin &amp; Koopman (2012)</a:t>
            </a:r>
            <a:endParaRPr lang="en-US" sz="1100" dirty="0"/>
          </a:p>
        </p:txBody>
      </p:sp>
      <p:sp>
        <p:nvSpPr>
          <p:cNvPr id="5" name="equations card"/>
          <p:cNvSpPr/>
          <p:nvPr/>
        </p:nvSpPr>
        <p:spPr>
          <a:xfrm>
            <a:off x="548640" y="1691640"/>
            <a:ext cx="5212080" cy="1783080"/>
          </a:xfrm>
          <a:prstGeom prst="roundRect">
            <a:avLst>
              <a:gd name="adj" fmla="val 6154"/>
            </a:avLst>
          </a:prstGeom>
          <a:solidFill>
            <a:schemeClr val="bg2"/>
          </a:solidFill>
          <a:ln/>
        </p:spPr>
      </p:sp>
      <p:sp>
        <p:nvSpPr>
          <p:cNvPr id="6" name="Shape 4"/>
          <p:cNvSpPr/>
          <p:nvPr/>
        </p:nvSpPr>
        <p:spPr>
          <a:xfrm>
            <a:off x="868680" y="1883664"/>
            <a:ext cx="182880" cy="182880"/>
          </a:xfrm>
          <a:prstGeom prst="ellipse">
            <a:avLst/>
          </a:prstGeom>
          <a:solidFill>
            <a:schemeClr val="accent1"/>
          </a:solidFill>
          <a:ln/>
        </p:spPr>
      </p:sp>
      <p:sp>
        <p:nvSpPr>
          <p:cNvPr id="7" name="Text 5"/>
          <p:cNvSpPr txBox="1"/>
          <p:nvPr/>
        </p:nvSpPr>
        <p:spPr>
          <a:xfrm>
            <a:off x="1188720" y="1828800"/>
            <a:ext cx="4206240" cy="292608"/>
          </a:xfrm>
          <a:prstGeom prst="rect">
            <a:avLst/>
          </a:prstGeom>
          <a:noFill/>
          <a:ln/>
        </p:spPr>
        <p:txBody>
          <a:bodyPr wrap="square" lIns="0" tIns="0" rIns="0" bIns="0" rtlCol="0" anchor="t"/>
          <a:lstStyle/>
          <a:p>
            <a:pPr indent="0" marL="0">
              <a:buNone/>
            </a:pPr>
            <a:r>
              <a:rPr lang="en-US" sz="1500" b="1" dirty="0">
                <a:solidFill>
                  <a:schemeClr val="tx1"/>
                </a:solidFill>
              </a:rPr>
              <a:t>Structural model on z = log(1 + y)</a:t>
            </a:r>
            <a:endParaRPr lang="en-US" sz="1500" dirty="0"/>
          </a:p>
        </p:txBody>
      </p:sp>
      <p:sp>
        <p:nvSpPr>
          <p:cNvPr id="8" name="Text 6"/>
          <p:cNvSpPr txBox="1"/>
          <p:nvPr/>
        </p:nvSpPr>
        <p:spPr>
          <a:xfrm>
            <a:off x="868680" y="2240280"/>
            <a:ext cx="4663440" cy="1143000"/>
          </a:xfrm>
          <a:prstGeom prst="rect">
            <a:avLst/>
          </a:prstGeom>
          <a:noFill/>
          <a:ln/>
        </p:spPr>
        <p:txBody>
          <a:bodyPr wrap="square" lIns="0" tIns="0" rIns="0" bIns="0" rtlCol="0" anchor="t"/>
          <a:lstStyle/>
          <a:p>
            <a:pPr indent="0" marL="0">
              <a:lnSpc>
                <a:spcPct val="115000"/>
              </a:lnSpc>
              <a:buNone/>
            </a:pPr>
            <a:r>
              <a:rPr lang="en-US" sz="1800" dirty="0">
                <a:solidFill>
                  <a:schemeClr val="tx1"/>
                </a:solidFill>
                <a:latin typeface="Cambria" pitchFamily="34" charset="0"/>
                <a:ea typeface="Cambria" pitchFamily="34" charset="-122"/>
                <a:cs typeface="Cambria" pitchFamily="34" charset="-120"/>
              </a:rPr>
              <a:t>zₜ = μₜ + γₜ + εₜ</a:t>
            </a:r>
            <a:endParaRPr lang="en-US" sz="1800" dirty="0"/>
          </a:p>
          <a:p>
            <a:pPr indent="0" marL="0">
              <a:lnSpc>
                <a:spcPct val="115000"/>
              </a:lnSpc>
              <a:buNone/>
            </a:pPr>
            <a:r>
              <a:rPr lang="en-US" sz="1800" dirty="0">
                <a:solidFill>
                  <a:schemeClr val="tx1"/>
                </a:solidFill>
                <a:latin typeface="Cambria" pitchFamily="34" charset="0"/>
                <a:ea typeface="Cambria" pitchFamily="34" charset="-122"/>
                <a:cs typeface="Cambria" pitchFamily="34" charset="-120"/>
              </a:rPr>
              <a:t>μₜ₊₁ = μₜ + ηₜ          (level)</a:t>
            </a:r>
            <a:endParaRPr lang="en-US" sz="1800" dirty="0"/>
          </a:p>
          <a:p>
            <a:pPr indent="0" marL="0">
              <a:lnSpc>
                <a:spcPct val="115000"/>
              </a:lnSpc>
              <a:buNone/>
            </a:pPr>
            <a:r>
              <a:rPr lang="en-US" sz="1800" dirty="0">
                <a:solidFill>
                  <a:schemeClr val="tx1"/>
                </a:solidFill>
                <a:latin typeface="Cambria" pitchFamily="34" charset="0"/>
                <a:ea typeface="Cambria" pitchFamily="34" charset="-122"/>
                <a:cs typeface="Cambria" pitchFamily="34" charset="-120"/>
              </a:rPr>
              <a:t>γₜ₊₁ = −(γₜ + … + γₜ₋₅) + ωₜ     (week)</a:t>
            </a:r>
            <a:endParaRPr lang="en-US" sz="1800" dirty="0"/>
          </a:p>
        </p:txBody>
      </p:sp>
      <p:sp>
        <p:nvSpPr>
          <p:cNvPr id="9" name="Text 7"/>
          <p:cNvSpPr txBox="1"/>
          <p:nvPr/>
        </p:nvSpPr>
        <p:spPr>
          <a:xfrm>
            <a:off x="548640" y="3657600"/>
            <a:ext cx="5212080" cy="320040"/>
          </a:xfrm>
          <a:prstGeom prst="rect">
            <a:avLst/>
          </a:prstGeom>
          <a:noFill/>
          <a:ln/>
        </p:spPr>
        <p:txBody>
          <a:bodyPr wrap="square" lIns="0" tIns="0" rIns="0" bIns="0" rtlCol="0" anchor="t"/>
          <a:lstStyle/>
          <a:p>
            <a:pPr indent="0" marL="0">
              <a:buNone/>
            </a:pPr>
            <a:r>
              <a:rPr lang="en-US" sz="1700" b="1" dirty="0">
                <a:solidFill>
                  <a:schemeClr val="tx1"/>
                </a:solidFill>
              </a:rPr>
              <a:t>Profile-likelihood MLE per SKU</a:t>
            </a:r>
            <a:endParaRPr lang="en-US" sz="1700" dirty="0"/>
          </a:p>
        </p:txBody>
      </p:sp>
      <p:sp>
        <p:nvSpPr>
          <p:cNvPr id="10" name="Text 8"/>
          <p:cNvSpPr txBox="1"/>
          <p:nvPr/>
        </p:nvSpPr>
        <p:spPr>
          <a:xfrm>
            <a:off x="548640" y="3986784"/>
            <a:ext cx="5212080" cy="411480"/>
          </a:xfrm>
          <a:prstGeom prst="rect">
            <a:avLst/>
          </a:prstGeom>
          <a:noFill/>
          <a:ln/>
        </p:spPr>
        <p:txBody>
          <a:bodyPr wrap="square" lIns="0" tIns="0" rIns="0" bIns="0" rtlCol="0" anchor="t"/>
          <a:lstStyle/>
          <a:p>
            <a:pPr indent="0" marL="0">
              <a:buNone/>
            </a:pPr>
            <a:r>
              <a:rPr lang="en-US" sz="1400" dirty="0">
                <a:solidFill>
                  <a:schemeClr val="tx2"/>
                </a:solidFill>
              </a:rPr>
              <a:t>2-ratio grid, vectorised across SKUs: ~50 s for all 1,500</a:t>
            </a:r>
            <a:endParaRPr lang="en-US" sz="1400" dirty="0"/>
          </a:p>
        </p:txBody>
      </p:sp>
      <p:sp>
        <p:nvSpPr>
          <p:cNvPr id="11" name="Text 9"/>
          <p:cNvSpPr txBox="1"/>
          <p:nvPr/>
        </p:nvSpPr>
        <p:spPr>
          <a:xfrm>
            <a:off x="548640" y="4498848"/>
            <a:ext cx="5212080" cy="320040"/>
          </a:xfrm>
          <a:prstGeom prst="rect">
            <a:avLst/>
          </a:prstGeom>
          <a:noFill/>
          <a:ln/>
        </p:spPr>
        <p:txBody>
          <a:bodyPr wrap="square" lIns="0" tIns="0" rIns="0" bIns="0" rtlCol="0" anchor="t"/>
          <a:lstStyle/>
          <a:p>
            <a:pPr indent="0" marL="0">
              <a:buNone/>
            </a:pPr>
            <a:r>
              <a:rPr lang="en-US" sz="1700" b="1" dirty="0">
                <a:solidFill>
                  <a:schemeClr val="tx1"/>
                </a:solidFill>
              </a:rPr>
              <a:t>Exact quantiles, exact missing data</a:t>
            </a:r>
            <a:endParaRPr lang="en-US" sz="1700" dirty="0"/>
          </a:p>
        </p:txBody>
      </p:sp>
      <p:sp>
        <p:nvSpPr>
          <p:cNvPr id="12" name="Text 10"/>
          <p:cNvSpPr txBox="1"/>
          <p:nvPr/>
        </p:nvSpPr>
        <p:spPr>
          <a:xfrm>
            <a:off x="548640" y="4828032"/>
            <a:ext cx="5212080" cy="411480"/>
          </a:xfrm>
          <a:prstGeom prst="rect">
            <a:avLst/>
          </a:prstGeom>
          <a:noFill/>
          <a:ln/>
        </p:spPr>
        <p:txBody>
          <a:bodyPr wrap="square" lIns="0" tIns="0" rIns="0" bIns="0" rtlCol="0" anchor="t"/>
          <a:lstStyle/>
          <a:p>
            <a:pPr indent="0" marL="0">
              <a:buNone/>
            </a:pPr>
            <a:r>
              <a:rPr lang="en-US" sz="1400" dirty="0">
                <a:solidFill>
                  <a:schemeClr val="tx2"/>
                </a:solidFill>
              </a:rPr>
              <a:t>Q_y(α) = exp(Q_z(α)) − 1; stockout days skip the update</a:t>
            </a:r>
            <a:endParaRPr lang="en-US" sz="1400" dirty="0"/>
          </a:p>
        </p:txBody>
      </p:sp>
      <p:sp>
        <p:nvSpPr>
          <p:cNvPr id="13" name="Text 11"/>
          <p:cNvSpPr txBox="1"/>
          <p:nvPr/>
        </p:nvSpPr>
        <p:spPr>
          <a:xfrm>
            <a:off x="548640" y="5340096"/>
            <a:ext cx="5212080" cy="320040"/>
          </a:xfrm>
          <a:prstGeom prst="rect">
            <a:avLst/>
          </a:prstGeom>
          <a:noFill/>
          <a:ln/>
        </p:spPr>
        <p:txBody>
          <a:bodyPr wrap="square" lIns="0" tIns="0" rIns="0" bIns="0" rtlCol="0" anchor="t"/>
          <a:lstStyle/>
          <a:p>
            <a:pPr indent="0" marL="0">
              <a:buNone/>
            </a:pPr>
            <a:r>
              <a:rPr lang="en-US" sz="1700" b="1" dirty="0">
                <a:solidFill>
                  <a:schemeClr val="tx1"/>
                </a:solidFill>
              </a:rPr>
              <a:t>Verified against statsmodels</a:t>
            </a:r>
            <a:endParaRPr lang="en-US" sz="1700" dirty="0"/>
          </a:p>
        </p:txBody>
      </p:sp>
      <p:sp>
        <p:nvSpPr>
          <p:cNvPr id="14" name="Text 12"/>
          <p:cNvSpPr txBox="1"/>
          <p:nvPr/>
        </p:nvSpPr>
        <p:spPr>
          <a:xfrm>
            <a:off x="548640" y="5669280"/>
            <a:ext cx="5212080" cy="411480"/>
          </a:xfrm>
          <a:prstGeom prst="rect">
            <a:avLst/>
          </a:prstGeom>
          <a:noFill/>
          <a:ln/>
        </p:spPr>
        <p:txBody>
          <a:bodyPr wrap="square" lIns="0" tIns="0" rIns="0" bIns="0" rtlCol="0" anchor="t"/>
          <a:lstStyle/>
          <a:p>
            <a:pPr indent="0" marL="0">
              <a:buNone/>
            </a:pPr>
            <a:r>
              <a:rPr lang="en-US" sz="1400" dirty="0">
                <a:solidFill>
                  <a:schemeClr val="tx2"/>
                </a:solidFill>
              </a:rPr>
              <a:t>Log-likelihood, predictions and variances agree to 10⁻⁹</a:t>
            </a:r>
            <a:endParaRPr lang="en-US" sz="1400" dirty="0"/>
          </a:p>
        </p:txBody>
      </p:sp>
      <p:pic>
        <p:nvPicPr>
          <p:cNvPr id="15" name="kalman_states.png" descr="Filtered level and day-of-week effect of one SKU; during flagged stockouts the level coasts without updating">    </p:cNvPr>
          <p:cNvPicPr>
            <a:picLocks noChangeAspect="1"/>
          </p:cNvPicPr>
          <p:nvPr/>
        </p:nvPicPr>
        <p:blipFill>
          <a:blip r:embed="rId1"/>
          <a:stretch>
            <a:fillRect/>
          </a:stretch>
        </p:blipFill>
        <p:spPr>
          <a:xfrm>
            <a:off x="6035040" y="2367216"/>
            <a:ext cx="5605272" cy="3083688"/>
          </a:xfrm>
          <a:prstGeom prst="rect">
            <a:avLst/>
          </a:prstGeom>
        </p:spPr>
      </p:pic>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lIns="0" tIns="0" rIns="0" bIns="0" rtlCol="0"/>
          <a:lstStyle/>
          <a:p>
            <a:pPr algn="l" indent="0" marL="0">
              <a:buNone/>
            </a:pPr>
            <a:r>
              <a:rPr lang="en-US" sz="1300" b="1" spc="200" kern="0" dirty="0">
                <a:solidFill>
                  <a:schemeClr val="accent1"/>
                </a:solidFill>
              </a:rPr>
              <a:t>GLOBAL MODEL</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400" b="1" dirty="0">
                <a:solidFill>
                  <a:schemeClr val="tx1"/>
                </a:solidFill>
              </a:rPr>
              <a:t>One LightGBM for all SKUs, leakage-safe</a:t>
            </a:r>
            <a:endParaRPr lang="en-US" sz="3400" dirty="0"/>
          </a:p>
        </p:txBody>
      </p:sp>
      <p:sp>
        <p:nvSpPr>
          <p:cNvPr id="4" name="Text 1"/>
          <p:cNvSpPr/>
          <p:nvPr>
            <p:ph idx="103" type="body" hasCustomPrompt="1"/>
          </p:nvPr>
        </p:nvSpPr>
        <p:spPr>
          <a:xfrm>
            <a:off x="2286000" y="6382512"/>
            <a:ext cx="8595360" cy="274320"/>
          </a:xfrm>
          <a:prstGeom prst="rect">
            <a:avLst/>
          </a:prstGeom>
          <a:noFill/>
          <a:ln/>
        </p:spPr>
        <p:txBody>
          <a:bodyPr wrap="square" lIns="0" tIns="0" rIns="0" bIns="0" rtlCol="0"/>
          <a:lstStyle/>
          <a:p>
            <a:pPr algn="l" indent="0" marL="0">
              <a:buNone/>
            </a:pPr>
            <a:r>
              <a:rPr lang="en-US" sz="1100" dirty="0">
                <a:solidFill>
                  <a:schemeClr val="tx2"/>
                </a:solidFill>
              </a:rPr>
              <a:t>Leakage unit test: row t is identical whether data end at t − L or t − 1</a:t>
            </a:r>
            <a:endParaRPr lang="en-US" sz="1100" dirty="0"/>
          </a:p>
        </p:txBody>
      </p:sp>
      <p:sp>
        <p:nvSpPr>
          <p:cNvPr id="5" name="direct design card"/>
          <p:cNvSpPr/>
          <p:nvPr/>
        </p:nvSpPr>
        <p:spPr>
          <a:xfrm>
            <a:off x="548640" y="1691640"/>
            <a:ext cx="4937760" cy="4434840"/>
          </a:xfrm>
          <a:prstGeom prst="roundRect">
            <a:avLst>
              <a:gd name="adj" fmla="val 2474"/>
            </a:avLst>
          </a:prstGeom>
          <a:solidFill>
            <a:schemeClr val="bg2"/>
          </a:solidFill>
          <a:ln/>
        </p:spPr>
      </p:sp>
      <p:sp>
        <p:nvSpPr>
          <p:cNvPr id="6" name="Shape 4"/>
          <p:cNvSpPr/>
          <p:nvPr/>
        </p:nvSpPr>
        <p:spPr>
          <a:xfrm>
            <a:off x="868680" y="1938528"/>
            <a:ext cx="182880" cy="182880"/>
          </a:xfrm>
          <a:prstGeom prst="ellipse">
            <a:avLst/>
          </a:prstGeom>
          <a:solidFill>
            <a:schemeClr val="accent2"/>
          </a:solidFill>
          <a:ln/>
        </p:spPr>
      </p:sp>
      <p:sp>
        <p:nvSpPr>
          <p:cNvPr id="7" name="Text 5"/>
          <p:cNvSpPr txBox="1"/>
          <p:nvPr/>
        </p:nvSpPr>
        <p:spPr>
          <a:xfrm>
            <a:off x="1188720" y="1828800"/>
            <a:ext cx="411480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Horizon-safe direct</a:t>
            </a:r>
            <a:endParaRPr lang="en-US" sz="2200" dirty="0"/>
          </a:p>
        </p:txBody>
      </p:sp>
      <p:sp>
        <p:nvSpPr>
          <p:cNvPr id="8" name="Text 6"/>
          <p:cNvSpPr txBox="1"/>
          <p:nvPr/>
        </p:nvSpPr>
        <p:spPr>
          <a:xfrm>
            <a:off x="868680" y="2377440"/>
            <a:ext cx="4297680" cy="1005840"/>
          </a:xfrm>
          <a:prstGeom prst="rect">
            <a:avLst/>
          </a:prstGeom>
          <a:noFill/>
          <a:ln/>
        </p:spPr>
        <p:txBody>
          <a:bodyPr wrap="square" lIns="0" tIns="0" rIns="0" bIns="0" rtlCol="0" anchor="t"/>
          <a:lstStyle/>
          <a:p>
            <a:pPr indent="0" marL="0">
              <a:buNone/>
            </a:pPr>
            <a:r>
              <a:rPr lang="en-US" sz="1600" dirty="0">
                <a:solidFill>
                  <a:schemeClr val="tx2"/>
                </a:solidFill>
              </a:rPr>
              <a:t>Every sales feature for day t uses data ≤ t − L. With L ≥ h, one model covers every horizon with no recursion and no peeking.</a:t>
            </a:r>
            <a:endParaRPr lang="en-US" sz="1600" dirty="0"/>
          </a:p>
        </p:txBody>
      </p:sp>
      <p:sp>
        <p:nvSpPr>
          <p:cNvPr id="9" name="variant 1"/>
          <p:cNvSpPr/>
          <p:nvPr/>
        </p:nvSpPr>
        <p:spPr>
          <a:xfrm>
            <a:off x="868680" y="3520440"/>
            <a:ext cx="4297680" cy="548640"/>
          </a:xfrm>
          <a:prstGeom prst="roundRect">
            <a:avLst>
              <a:gd name="adj" fmla="val 20000"/>
            </a:avLst>
          </a:prstGeom>
          <a:solidFill>
            <a:schemeClr val="bg1"/>
          </a:solidFill>
          <a:ln/>
        </p:spPr>
      </p:sp>
      <p:sp>
        <p:nvSpPr>
          <p:cNvPr id="10" name="Text 8"/>
          <p:cNvSpPr txBox="1"/>
          <p:nvPr/>
        </p:nvSpPr>
        <p:spPr>
          <a:xfrm>
            <a:off x="1051560" y="3639312"/>
            <a:ext cx="3931920" cy="329184"/>
          </a:xfrm>
          <a:prstGeom prst="rect">
            <a:avLst/>
          </a:prstGeom>
          <a:noFill/>
          <a:ln/>
        </p:spPr>
        <p:txBody>
          <a:bodyPr wrap="square" lIns="0" tIns="0" rIns="0" bIns="0" rtlCol="0" anchor="t"/>
          <a:lstStyle/>
          <a:p>
            <a:pPr indent="0" marL="0">
              <a:buNone/>
            </a:pPr>
            <a:r>
              <a:rPr lang="en-US" sz="1600" b="1" dirty="0">
                <a:solidFill>
                  <a:schemeClr val="tx1"/>
                </a:solidFill>
              </a:rPr>
              <a:t>lag-7 model </a:t>
            </a:r>
            <a:pPr indent="0" marL="0">
              <a:buNone/>
            </a:pPr>
            <a:r>
              <a:rPr lang="en-US" sz="1600" dirty="0">
                <a:solidFill>
                  <a:schemeClr val="tx2"/>
                </a:solidFill>
              </a:rPr>
              <a:t>serves h = 1–7</a:t>
            </a:r>
            <a:endParaRPr lang="en-US" sz="1600" dirty="0"/>
          </a:p>
        </p:txBody>
      </p:sp>
      <p:sp>
        <p:nvSpPr>
          <p:cNvPr id="11" name="variant 2"/>
          <p:cNvSpPr/>
          <p:nvPr/>
        </p:nvSpPr>
        <p:spPr>
          <a:xfrm>
            <a:off x="868680" y="4206240"/>
            <a:ext cx="4297680" cy="548640"/>
          </a:xfrm>
          <a:prstGeom prst="roundRect">
            <a:avLst>
              <a:gd name="adj" fmla="val 20000"/>
            </a:avLst>
          </a:prstGeom>
          <a:solidFill>
            <a:schemeClr val="bg1"/>
          </a:solidFill>
          <a:ln/>
        </p:spPr>
      </p:sp>
      <p:sp>
        <p:nvSpPr>
          <p:cNvPr id="12" name="Text 10"/>
          <p:cNvSpPr txBox="1"/>
          <p:nvPr/>
        </p:nvSpPr>
        <p:spPr>
          <a:xfrm>
            <a:off x="1051560" y="4325112"/>
            <a:ext cx="3931920" cy="329184"/>
          </a:xfrm>
          <a:prstGeom prst="rect">
            <a:avLst/>
          </a:prstGeom>
          <a:noFill/>
          <a:ln/>
        </p:spPr>
        <p:txBody>
          <a:bodyPr wrap="square" lIns="0" tIns="0" rIns="0" bIns="0" rtlCol="0" anchor="t"/>
          <a:lstStyle/>
          <a:p>
            <a:pPr indent="0" marL="0">
              <a:buNone/>
            </a:pPr>
            <a:r>
              <a:rPr lang="en-US" sz="1600" b="1" dirty="0">
                <a:solidFill>
                  <a:schemeClr val="tx1"/>
                </a:solidFill>
              </a:rPr>
              <a:t>lag-28 model </a:t>
            </a:r>
            <a:pPr indent="0" marL="0">
              <a:buNone/>
            </a:pPr>
            <a:r>
              <a:rPr lang="en-US" sz="1600" dirty="0">
                <a:solidFill>
                  <a:schemeClr val="tx2"/>
                </a:solidFill>
              </a:rPr>
              <a:t>serves h = 8–28</a:t>
            </a:r>
            <a:endParaRPr lang="en-US" sz="1600" dirty="0"/>
          </a:p>
        </p:txBody>
      </p:sp>
      <p:sp>
        <p:nvSpPr>
          <p:cNvPr id="13" name="Text 11"/>
          <p:cNvSpPr txBox="1"/>
          <p:nvPr/>
        </p:nvSpPr>
        <p:spPr>
          <a:xfrm>
            <a:off x="868680" y="5029200"/>
            <a:ext cx="4297680" cy="822960"/>
          </a:xfrm>
          <a:prstGeom prst="rect">
            <a:avLst/>
          </a:prstGeom>
          <a:noFill/>
          <a:ln/>
        </p:spPr>
        <p:txBody>
          <a:bodyPr wrap="square" lIns="0" tIns="0" rIns="0" bIns="0" rtlCol="0" anchor="t"/>
          <a:lstStyle/>
          <a:p>
            <a:pPr indent="0" marL="0">
              <a:buNone/>
            </a:pPr>
            <a:r>
              <a:rPr lang="en-US" sz="1500" dirty="0">
                <a:solidFill>
                  <a:schemeClr val="tx2"/>
                </a:solidFill>
              </a:rPr>
              <a:t>Tweedie mean + 7 pinball-loss quantile models; early stopping inside the training window</a:t>
            </a:r>
            <a:endParaRPr lang="en-US" sz="1500" dirty="0"/>
          </a:p>
        </p:txBody>
      </p:sp>
      <p:sp>
        <p:nvSpPr>
          <p:cNvPr id="14" name="feature Lags"/>
          <p:cNvSpPr/>
          <p:nvPr/>
        </p:nvSpPr>
        <p:spPr>
          <a:xfrm>
            <a:off x="5760720" y="1691640"/>
            <a:ext cx="2834640" cy="1325880"/>
          </a:xfrm>
          <a:prstGeom prst="roundRect">
            <a:avLst>
              <a:gd name="adj" fmla="val 8276"/>
            </a:avLst>
          </a:prstGeom>
          <a:solidFill>
            <a:schemeClr val="bg2"/>
          </a:solidFill>
          <a:ln/>
        </p:spPr>
      </p:sp>
      <p:sp>
        <p:nvSpPr>
          <p:cNvPr id="15" name="Text 13"/>
          <p:cNvSpPr txBox="1"/>
          <p:nvPr/>
        </p:nvSpPr>
        <p:spPr>
          <a:xfrm>
            <a:off x="6035040" y="1892808"/>
            <a:ext cx="2377440" cy="347472"/>
          </a:xfrm>
          <a:prstGeom prst="rect">
            <a:avLst/>
          </a:prstGeom>
          <a:noFill/>
          <a:ln/>
        </p:spPr>
        <p:txBody>
          <a:bodyPr wrap="square" lIns="0" tIns="0" rIns="0" bIns="0" rtlCol="0" anchor="t"/>
          <a:lstStyle/>
          <a:p>
            <a:pPr indent="0" marL="0">
              <a:buNone/>
            </a:pPr>
            <a:r>
              <a:rPr lang="en-US" sz="1800" b="1" dirty="0">
                <a:solidFill>
                  <a:schemeClr val="tx1"/>
                </a:solidFill>
              </a:rPr>
              <a:t>Lags</a:t>
            </a:r>
            <a:endParaRPr lang="en-US" sz="1800" dirty="0"/>
          </a:p>
        </p:txBody>
      </p:sp>
      <p:sp>
        <p:nvSpPr>
          <p:cNvPr id="16" name="Text 14"/>
          <p:cNvSpPr txBox="1"/>
          <p:nvPr/>
        </p:nvSpPr>
        <p:spPr>
          <a:xfrm>
            <a:off x="6035040" y="2286000"/>
            <a:ext cx="2377440" cy="594360"/>
          </a:xfrm>
          <a:prstGeom prst="rect">
            <a:avLst/>
          </a:prstGeom>
          <a:noFill/>
          <a:ln/>
        </p:spPr>
        <p:txBody>
          <a:bodyPr wrap="square" lIns="0" tIns="0" rIns="0" bIns="0" rtlCol="0" anchor="t"/>
          <a:lstStyle/>
          <a:p>
            <a:pPr indent="0" marL="0">
              <a:buNone/>
            </a:pPr>
            <a:r>
              <a:rPr lang="en-US" sz="1400" dirty="0">
                <a:solidFill>
                  <a:schemeClr val="tx2"/>
                </a:solidFill>
              </a:rPr>
              <a:t>L … L+28, and 364</a:t>
            </a:r>
            <a:endParaRPr lang="en-US" sz="1400" dirty="0"/>
          </a:p>
        </p:txBody>
      </p:sp>
      <p:sp>
        <p:nvSpPr>
          <p:cNvPr id="17" name="feature Rolling stats"/>
          <p:cNvSpPr/>
          <p:nvPr/>
        </p:nvSpPr>
        <p:spPr>
          <a:xfrm>
            <a:off x="8805672" y="1691640"/>
            <a:ext cx="2834640" cy="1325880"/>
          </a:xfrm>
          <a:prstGeom prst="roundRect">
            <a:avLst>
              <a:gd name="adj" fmla="val 8276"/>
            </a:avLst>
          </a:prstGeom>
          <a:solidFill>
            <a:schemeClr val="bg2"/>
          </a:solidFill>
          <a:ln/>
        </p:spPr>
      </p:sp>
      <p:sp>
        <p:nvSpPr>
          <p:cNvPr id="18" name="Text 16"/>
          <p:cNvSpPr txBox="1"/>
          <p:nvPr/>
        </p:nvSpPr>
        <p:spPr>
          <a:xfrm>
            <a:off x="9079992" y="1892808"/>
            <a:ext cx="2377440" cy="347472"/>
          </a:xfrm>
          <a:prstGeom prst="rect">
            <a:avLst/>
          </a:prstGeom>
          <a:noFill/>
          <a:ln/>
        </p:spPr>
        <p:txBody>
          <a:bodyPr wrap="square" lIns="0" tIns="0" rIns="0" bIns="0" rtlCol="0" anchor="t"/>
          <a:lstStyle/>
          <a:p>
            <a:pPr indent="0" marL="0">
              <a:buNone/>
            </a:pPr>
            <a:r>
              <a:rPr lang="en-US" sz="1800" b="1" dirty="0">
                <a:solidFill>
                  <a:schemeClr val="tx1"/>
                </a:solidFill>
              </a:rPr>
              <a:t>Rolling stats</a:t>
            </a:r>
            <a:endParaRPr lang="en-US" sz="1800" dirty="0"/>
          </a:p>
        </p:txBody>
      </p:sp>
      <p:sp>
        <p:nvSpPr>
          <p:cNvPr id="19" name="Text 17"/>
          <p:cNvSpPr txBox="1"/>
          <p:nvPr/>
        </p:nvSpPr>
        <p:spPr>
          <a:xfrm>
            <a:off x="9079992" y="2286000"/>
            <a:ext cx="2377440" cy="594360"/>
          </a:xfrm>
          <a:prstGeom prst="rect">
            <a:avLst/>
          </a:prstGeom>
          <a:noFill/>
          <a:ln/>
        </p:spPr>
        <p:txBody>
          <a:bodyPr wrap="square" lIns="0" tIns="0" rIns="0" bIns="0" rtlCol="0" anchor="t"/>
          <a:lstStyle/>
          <a:p>
            <a:pPr indent="0" marL="0">
              <a:buNone/>
            </a:pPr>
            <a:r>
              <a:rPr lang="en-US" sz="1400" dirty="0">
                <a:solidFill>
                  <a:schemeClr val="tx2"/>
                </a:solidFill>
              </a:rPr>
              <a:t>mean, sd, max, zero share, zero streak</a:t>
            </a:r>
            <a:endParaRPr lang="en-US" sz="1400" dirty="0"/>
          </a:p>
        </p:txBody>
      </p:sp>
      <p:sp>
        <p:nvSpPr>
          <p:cNvPr id="20" name="feature Other stores"/>
          <p:cNvSpPr/>
          <p:nvPr/>
        </p:nvSpPr>
        <p:spPr>
          <a:xfrm>
            <a:off x="5760720" y="3246120"/>
            <a:ext cx="2834640" cy="1325880"/>
          </a:xfrm>
          <a:prstGeom prst="roundRect">
            <a:avLst>
              <a:gd name="adj" fmla="val 8276"/>
            </a:avLst>
          </a:prstGeom>
          <a:solidFill>
            <a:schemeClr val="bg2"/>
          </a:solidFill>
          <a:ln/>
        </p:spPr>
      </p:sp>
      <p:sp>
        <p:nvSpPr>
          <p:cNvPr id="21" name="Text 19"/>
          <p:cNvSpPr txBox="1"/>
          <p:nvPr/>
        </p:nvSpPr>
        <p:spPr>
          <a:xfrm>
            <a:off x="6035040" y="3447288"/>
            <a:ext cx="2377440" cy="347472"/>
          </a:xfrm>
          <a:prstGeom prst="rect">
            <a:avLst/>
          </a:prstGeom>
          <a:noFill/>
          <a:ln/>
        </p:spPr>
        <p:txBody>
          <a:bodyPr wrap="square" lIns="0" tIns="0" rIns="0" bIns="0" rtlCol="0" anchor="t"/>
          <a:lstStyle/>
          <a:p>
            <a:pPr indent="0" marL="0">
              <a:buNone/>
            </a:pPr>
            <a:r>
              <a:rPr lang="en-US" sz="1800" b="1" dirty="0">
                <a:solidFill>
                  <a:schemeClr val="tx1"/>
                </a:solidFill>
              </a:rPr>
              <a:t>Other stores</a:t>
            </a:r>
            <a:endParaRPr lang="en-US" sz="1800" dirty="0"/>
          </a:p>
        </p:txBody>
      </p:sp>
      <p:sp>
        <p:nvSpPr>
          <p:cNvPr id="22" name="Text 20"/>
          <p:cNvSpPr txBox="1"/>
          <p:nvPr/>
        </p:nvSpPr>
        <p:spPr>
          <a:xfrm>
            <a:off x="6035040" y="3840480"/>
            <a:ext cx="2377440" cy="594360"/>
          </a:xfrm>
          <a:prstGeom prst="rect">
            <a:avLst/>
          </a:prstGeom>
          <a:noFill/>
          <a:ln/>
        </p:spPr>
        <p:txBody>
          <a:bodyPr wrap="square" lIns="0" tIns="0" rIns="0" bIns="0" rtlCol="0" anchor="t"/>
          <a:lstStyle/>
          <a:p>
            <a:pPr indent="0" marL="0">
              <a:buNone/>
            </a:pPr>
            <a:r>
              <a:rPr lang="en-US" sz="1400" dirty="0">
                <a:solidFill>
                  <a:schemeClr val="tx2"/>
                </a:solidFill>
              </a:rPr>
              <a:t>same item, own sales excluded</a:t>
            </a:r>
            <a:endParaRPr lang="en-US" sz="1400" dirty="0"/>
          </a:p>
        </p:txBody>
      </p:sp>
      <p:sp>
        <p:nvSpPr>
          <p:cNvPr id="23" name="feature Price"/>
          <p:cNvSpPr/>
          <p:nvPr/>
        </p:nvSpPr>
        <p:spPr>
          <a:xfrm>
            <a:off x="8805672" y="3246120"/>
            <a:ext cx="2834640" cy="1325880"/>
          </a:xfrm>
          <a:prstGeom prst="roundRect">
            <a:avLst>
              <a:gd name="adj" fmla="val 8276"/>
            </a:avLst>
          </a:prstGeom>
          <a:solidFill>
            <a:schemeClr val="bg2"/>
          </a:solidFill>
          <a:ln/>
        </p:spPr>
      </p:sp>
      <p:sp>
        <p:nvSpPr>
          <p:cNvPr id="24" name="Text 22"/>
          <p:cNvSpPr txBox="1"/>
          <p:nvPr/>
        </p:nvSpPr>
        <p:spPr>
          <a:xfrm>
            <a:off x="9079992" y="3447288"/>
            <a:ext cx="2377440" cy="347472"/>
          </a:xfrm>
          <a:prstGeom prst="rect">
            <a:avLst/>
          </a:prstGeom>
          <a:noFill/>
          <a:ln/>
        </p:spPr>
        <p:txBody>
          <a:bodyPr wrap="square" lIns="0" tIns="0" rIns="0" bIns="0" rtlCol="0" anchor="t"/>
          <a:lstStyle/>
          <a:p>
            <a:pPr indent="0" marL="0">
              <a:buNone/>
            </a:pPr>
            <a:r>
              <a:rPr lang="en-US" sz="1800" b="1" dirty="0">
                <a:solidFill>
                  <a:schemeClr val="tx1"/>
                </a:solidFill>
              </a:rPr>
              <a:t>Price</a:t>
            </a:r>
            <a:endParaRPr lang="en-US" sz="1800" dirty="0"/>
          </a:p>
        </p:txBody>
      </p:sp>
      <p:sp>
        <p:nvSpPr>
          <p:cNvPr id="25" name="Text 23"/>
          <p:cNvSpPr txBox="1"/>
          <p:nvPr/>
        </p:nvSpPr>
        <p:spPr>
          <a:xfrm>
            <a:off x="9079992" y="3840480"/>
            <a:ext cx="2377440" cy="594360"/>
          </a:xfrm>
          <a:prstGeom prst="rect">
            <a:avLst/>
          </a:prstGeom>
          <a:noFill/>
          <a:ln/>
        </p:spPr>
        <p:txBody>
          <a:bodyPr wrap="square" lIns="0" tIns="0" rIns="0" bIns="0" rtlCol="0" anchor="t"/>
          <a:lstStyle/>
          <a:p>
            <a:pPr indent="0" marL="0">
              <a:buNone/>
            </a:pPr>
            <a:r>
              <a:rPr lang="en-US" sz="1400" dirty="0">
                <a:solidFill>
                  <a:schemeClr val="tx2"/>
                </a:solidFill>
              </a:rPr>
              <a:t>level, relative, weekly change</a:t>
            </a:r>
            <a:endParaRPr lang="en-US" sz="1400" dirty="0"/>
          </a:p>
        </p:txBody>
      </p:sp>
      <p:sp>
        <p:nvSpPr>
          <p:cNvPr id="26" name="feature Calendar"/>
          <p:cNvSpPr/>
          <p:nvPr/>
        </p:nvSpPr>
        <p:spPr>
          <a:xfrm>
            <a:off x="5760720" y="4800600"/>
            <a:ext cx="2834640" cy="1325880"/>
          </a:xfrm>
          <a:prstGeom prst="roundRect">
            <a:avLst>
              <a:gd name="adj" fmla="val 8276"/>
            </a:avLst>
          </a:prstGeom>
          <a:solidFill>
            <a:schemeClr val="bg2"/>
          </a:solidFill>
          <a:ln/>
        </p:spPr>
      </p:sp>
      <p:sp>
        <p:nvSpPr>
          <p:cNvPr id="27" name="Text 25"/>
          <p:cNvSpPr txBox="1"/>
          <p:nvPr/>
        </p:nvSpPr>
        <p:spPr>
          <a:xfrm>
            <a:off x="6035040" y="5001768"/>
            <a:ext cx="2377440" cy="347472"/>
          </a:xfrm>
          <a:prstGeom prst="rect">
            <a:avLst/>
          </a:prstGeom>
          <a:noFill/>
          <a:ln/>
        </p:spPr>
        <p:txBody>
          <a:bodyPr wrap="square" lIns="0" tIns="0" rIns="0" bIns="0" rtlCol="0" anchor="t"/>
          <a:lstStyle/>
          <a:p>
            <a:pPr indent="0" marL="0">
              <a:buNone/>
            </a:pPr>
            <a:r>
              <a:rPr lang="en-US" sz="1800" b="1" dirty="0">
                <a:solidFill>
                  <a:schemeClr val="tx1"/>
                </a:solidFill>
              </a:rPr>
              <a:t>Calendar</a:t>
            </a:r>
            <a:endParaRPr lang="en-US" sz="1800" dirty="0"/>
          </a:p>
        </p:txBody>
      </p:sp>
      <p:sp>
        <p:nvSpPr>
          <p:cNvPr id="28" name="Text 26"/>
          <p:cNvSpPr txBox="1"/>
          <p:nvPr/>
        </p:nvSpPr>
        <p:spPr>
          <a:xfrm>
            <a:off x="6035040" y="5394960"/>
            <a:ext cx="2377440" cy="594360"/>
          </a:xfrm>
          <a:prstGeom prst="rect">
            <a:avLst/>
          </a:prstGeom>
          <a:noFill/>
          <a:ln/>
        </p:spPr>
        <p:txBody>
          <a:bodyPr wrap="square" lIns="0" tIns="0" rIns="0" bIns="0" rtlCol="0" anchor="t"/>
          <a:lstStyle/>
          <a:p>
            <a:pPr indent="0" marL="0">
              <a:buNone/>
            </a:pPr>
            <a:r>
              <a:rPr lang="en-US" sz="1400" dirty="0">
                <a:solidFill>
                  <a:schemeClr val="tx2"/>
                </a:solidFill>
              </a:rPr>
              <a:t>weekday, events, SNAP by state</a:t>
            </a:r>
            <a:endParaRPr lang="en-US" sz="1400" dirty="0"/>
          </a:p>
        </p:txBody>
      </p:sp>
      <p:sp>
        <p:nvSpPr>
          <p:cNvPr id="29" name="feature Identity"/>
          <p:cNvSpPr/>
          <p:nvPr/>
        </p:nvSpPr>
        <p:spPr>
          <a:xfrm>
            <a:off x="8805672" y="4800600"/>
            <a:ext cx="2834640" cy="1325880"/>
          </a:xfrm>
          <a:prstGeom prst="roundRect">
            <a:avLst>
              <a:gd name="adj" fmla="val 8276"/>
            </a:avLst>
          </a:prstGeom>
          <a:solidFill>
            <a:schemeClr val="bg2"/>
          </a:solidFill>
          <a:ln/>
        </p:spPr>
      </p:sp>
      <p:sp>
        <p:nvSpPr>
          <p:cNvPr id="30" name="Text 28"/>
          <p:cNvSpPr txBox="1"/>
          <p:nvPr/>
        </p:nvSpPr>
        <p:spPr>
          <a:xfrm>
            <a:off x="9079992" y="5001768"/>
            <a:ext cx="2377440" cy="347472"/>
          </a:xfrm>
          <a:prstGeom prst="rect">
            <a:avLst/>
          </a:prstGeom>
          <a:noFill/>
          <a:ln/>
        </p:spPr>
        <p:txBody>
          <a:bodyPr wrap="square" lIns="0" tIns="0" rIns="0" bIns="0" rtlCol="0" anchor="t"/>
          <a:lstStyle/>
          <a:p>
            <a:pPr indent="0" marL="0">
              <a:buNone/>
            </a:pPr>
            <a:r>
              <a:rPr lang="en-US" sz="1800" b="1" dirty="0">
                <a:solidFill>
                  <a:schemeClr val="tx1"/>
                </a:solidFill>
              </a:rPr>
              <a:t>Identity</a:t>
            </a:r>
            <a:endParaRPr lang="en-US" sz="1800" dirty="0"/>
          </a:p>
        </p:txBody>
      </p:sp>
      <p:sp>
        <p:nvSpPr>
          <p:cNvPr id="31" name="Text 29"/>
          <p:cNvSpPr txBox="1"/>
          <p:nvPr/>
        </p:nvSpPr>
        <p:spPr>
          <a:xfrm>
            <a:off x="9079992" y="5394960"/>
            <a:ext cx="2377440" cy="594360"/>
          </a:xfrm>
          <a:prstGeom prst="rect">
            <a:avLst/>
          </a:prstGeom>
          <a:noFill/>
          <a:ln/>
        </p:spPr>
        <p:txBody>
          <a:bodyPr wrap="square" lIns="0" tIns="0" rIns="0" bIns="0" rtlCol="0" anchor="t"/>
          <a:lstStyle/>
          <a:p>
            <a:pPr indent="0" marL="0">
              <a:buNone/>
            </a:pPr>
            <a:r>
              <a:rPr lang="en-US" sz="1400" dirty="0">
                <a:solidFill>
                  <a:schemeClr val="tx2"/>
                </a:solidFill>
              </a:rPr>
              <a:t>item, dept, store IDs; item age</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lIns="0" tIns="0" rIns="0" bIns="0" rtlCol="0"/>
          <a:lstStyle/>
          <a:p>
            <a:pPr algn="l" indent="0" marL="0">
              <a:buNone/>
            </a:pPr>
            <a:r>
              <a:rPr lang="en-US" sz="1300" b="1" spc="200" kern="0" dirty="0">
                <a:solidFill>
                  <a:schemeClr val="accent1"/>
                </a:solidFill>
              </a:rPr>
              <a:t>RESULTS · OVERALL</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400" b="1" dirty="0">
                <a:solidFill>
                  <a:schemeClr val="tx1"/>
                </a:solidFill>
              </a:rPr>
              <a:t>LightGBM is best on every accuracy metric</a:t>
            </a:r>
            <a:endParaRPr lang="en-US" sz="3400" dirty="0"/>
          </a:p>
        </p:txBody>
      </p:sp>
      <p:sp>
        <p:nvSpPr>
          <p:cNvPr id="4" name="Text 1"/>
          <p:cNvSpPr/>
          <p:nvPr>
            <p:ph idx="103" type="body" hasCustomPrompt="1"/>
          </p:nvPr>
        </p:nvSpPr>
        <p:spPr>
          <a:xfrm>
            <a:off x="2286000" y="6382512"/>
            <a:ext cx="8595360" cy="274320"/>
          </a:xfrm>
          <a:prstGeom prst="rect">
            <a:avLst/>
          </a:prstGeom>
          <a:noFill/>
          <a:ln/>
        </p:spPr>
        <p:txBody>
          <a:bodyPr wrap="square" lIns="0" tIns="0" rIns="0" bIns="0" rtlCol="0"/>
          <a:lstStyle/>
          <a:p>
            <a:pPr algn="l" indent="0" marL="0">
              <a:buNone/>
            </a:pPr>
            <a:r>
              <a:rPr lang="en-US" sz="1100" dirty="0">
                <a:solidFill>
                  <a:schemeClr val="tx2"/>
                </a:solidFill>
              </a:rPr>
              <a:t>Stockout-masked, 5 origins × 28 days, 1,500 series. Bold = best (coverage: closest to nominal)</a:t>
            </a:r>
            <a:endParaRPr lang="en-US" sz="1100" dirty="0"/>
          </a:p>
        </p:txBody>
      </p:sp>
      <p:graphicFrame>
        <p:nvGraphicFramePr>
          <p:cNvPr id="11" name="headline table"/>
          <p:cNvGraphicFramePr>
            <a:graphicFrameLocks noGrp="1"/>
          </p:cNvGraphicFramePr>
          <p:nvPr>
            <p:extLst>
              <p:ext uri="{D42A27DB-BD31-4B8C-83A1-F6EECF244321}">
                <p14:modId xmlns:p14="http://schemas.microsoft.com/office/powerpoint/2010/main" val="1579011935"/>
              </p:ext>
            </p:extLst>
          </p:nvPr>
        </p:nvGraphicFramePr>
        <p:xfrm>
          <a:off x="548640" y="1783080"/>
          <a:ext cx="7315200" cy="914400"/>
        </p:xfrm>
        <a:graphic>
          <a:graphicData uri="http://schemas.openxmlformats.org/drawingml/2006/table">
            <a:tbl>
              <a:tblPr/>
              <a:tblGrid>
                <a:gridCol w="2514600"/>
                <a:gridCol w="960120"/>
                <a:gridCol w="960120"/>
                <a:gridCol w="960120"/>
                <a:gridCol w="960120"/>
                <a:gridCol w="960120"/>
              </a:tblGrid>
              <a:tr h="566928">
                <a:tc>
                  <a:txBody>
                    <a:bodyPr/>
                    <a:lstStyle/>
                    <a:p>
                      <a:pPr algn="l" indent="0" marL="0">
                        <a:buNone/>
                      </a:pPr>
                      <a:r>
                        <a:rPr lang="en-US" sz="1800" b="1" dirty="0">
                          <a:solidFill>
                            <a:schemeClr val="tx1"/>
                          </a:solidFill>
                        </a:rPr>
                        <a:t>Model</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solidFill>
                      <a:schemeClr val="bg2"/>
                    </a:solidFill>
                  </a:tcPr>
                </a:tc>
                <a:tc>
                  <a:txBody>
                    <a:bodyPr/>
                    <a:lstStyle/>
                    <a:p>
                      <a:pPr algn="r" indent="0" marL="0">
                        <a:buNone/>
                      </a:pPr>
                      <a:r>
                        <a:rPr lang="en-US" sz="1800" b="1" dirty="0">
                          <a:solidFill>
                            <a:schemeClr val="tx1"/>
                          </a:solidFill>
                        </a:rPr>
                        <a:t>WAPE</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solidFill>
                      <a:schemeClr val="bg2"/>
                    </a:solidFill>
                  </a:tcPr>
                </a:tc>
                <a:tc>
                  <a:txBody>
                    <a:bodyPr/>
                    <a:lstStyle/>
                    <a:p>
                      <a:pPr algn="r" indent="0" marL="0">
                        <a:buNone/>
                      </a:pPr>
                      <a:r>
                        <a:rPr lang="en-US" sz="1800" b="1" dirty="0">
                          <a:solidFill>
                            <a:schemeClr val="tx1"/>
                          </a:solidFill>
                        </a:rPr>
                        <a:t>RMSSE</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solidFill>
                      <a:schemeClr val="bg2"/>
                    </a:solidFill>
                  </a:tcPr>
                </a:tc>
                <a:tc>
                  <a:txBody>
                    <a:bodyPr/>
                    <a:lstStyle/>
                    <a:p>
                      <a:pPr algn="r" indent="0" marL="0">
                        <a:buNone/>
                      </a:pPr>
                      <a:r>
                        <a:rPr lang="en-US" sz="1800" b="1" dirty="0">
                          <a:solidFill>
                            <a:schemeClr val="tx1"/>
                          </a:solidFill>
                        </a:rPr>
                        <a:t>SPL</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solidFill>
                      <a:schemeClr val="bg2"/>
                    </a:solidFill>
                  </a:tcPr>
                </a:tc>
                <a:tc>
                  <a:txBody>
                    <a:bodyPr/>
                    <a:lstStyle/>
                    <a:p>
                      <a:pPr algn="r" indent="0" marL="0">
                        <a:buNone/>
                      </a:pPr>
                      <a:r>
                        <a:rPr lang="en-US" sz="1800" b="1" dirty="0">
                          <a:solidFill>
                            <a:schemeClr val="tx1"/>
                          </a:solidFill>
                        </a:rPr>
                        <a:t>Cov80</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solidFill>
                      <a:schemeClr val="bg2"/>
                    </a:solidFill>
                  </a:tcPr>
                </a:tc>
                <a:tc>
                  <a:txBody>
                    <a:bodyPr/>
                    <a:lstStyle/>
                    <a:p>
                      <a:pPr algn="r" indent="0" marL="0">
                        <a:buNone/>
                      </a:pPr>
                      <a:r>
                        <a:rPr lang="en-US" sz="1800" b="1" dirty="0">
                          <a:solidFill>
                            <a:schemeClr val="tx1"/>
                          </a:solidFill>
                        </a:rPr>
                        <a:t>Cov90</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solidFill>
                      <a:schemeClr val="bg2"/>
                    </a:solidFill>
                  </a:tcPr>
                </a:tc>
              </a:tr>
              <a:tr h="566928">
                <a:tc>
                  <a:txBody>
                    <a:bodyPr/>
                    <a:lstStyle/>
                    <a:p>
                      <a:pPr indent="0" marL="0">
                        <a:buNone/>
                      </a:pPr>
                      <a:r>
                        <a:rPr lang="en-US" sz="1800" dirty="0">
                          <a:solidFill>
                            <a:schemeClr val="tx1"/>
                          </a:solidFill>
                        </a:rPr>
                        <a:t>Seasonal naive</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dirty="0">
                          <a:solidFill>
                            <a:schemeClr val="tx2"/>
                          </a:solidFill>
                        </a:rPr>
                        <a:t>0.757</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dirty="0">
                          <a:solidFill>
                            <a:schemeClr val="tx2"/>
                          </a:solidFill>
                        </a:rPr>
                        <a:t>0.978</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dirty="0">
                          <a:solidFill>
                            <a:schemeClr val="tx2"/>
                          </a:solidFill>
                        </a:rPr>
                        <a:t>0.358</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dirty="0">
                          <a:solidFill>
                            <a:schemeClr val="tx2"/>
                          </a:solidFill>
                        </a:rPr>
                        <a:t>0.857</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dirty="0">
                          <a:solidFill>
                            <a:schemeClr val="tx2"/>
                          </a:solidFill>
                        </a:rPr>
                        <a:t>0.924</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r>
              <a:tr h="566928">
                <a:tc>
                  <a:txBody>
                    <a:bodyPr/>
                    <a:lstStyle/>
                    <a:p>
                      <a:pPr indent="0" marL="0">
                        <a:buNone/>
                      </a:pPr>
                      <a:r>
                        <a:rPr lang="en-US" sz="1800" dirty="0">
                          <a:solidFill>
                            <a:schemeClr val="tx1"/>
                          </a:solidFill>
                        </a:rPr>
                        <a:t>TSB</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dirty="0">
                          <a:solidFill>
                            <a:schemeClr val="tx2"/>
                          </a:solidFill>
                        </a:rPr>
                        <a:t>0.600</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dirty="0">
                          <a:solidFill>
                            <a:schemeClr val="tx2"/>
                          </a:solidFill>
                        </a:rPr>
                        <a:t>0.753</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dirty="0">
                          <a:solidFill>
                            <a:schemeClr val="tx2"/>
                          </a:solidFill>
                        </a:rPr>
                        <a:t>0.281</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dirty="0">
                          <a:solidFill>
                            <a:schemeClr val="tx2"/>
                          </a:solidFill>
                        </a:rPr>
                        <a:t>0.790</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dirty="0">
                          <a:solidFill>
                            <a:schemeClr val="tx2"/>
                          </a:solidFill>
                        </a:rPr>
                        <a:t>0.887</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r>
              <a:tr h="566928">
                <a:tc>
                  <a:txBody>
                    <a:bodyPr/>
                    <a:lstStyle/>
                    <a:p>
                      <a:pPr indent="0" marL="0">
                        <a:buNone/>
                      </a:pPr>
                      <a:r>
                        <a:rPr lang="en-US" sz="1800" dirty="0">
                          <a:solidFill>
                            <a:schemeClr val="tx1"/>
                          </a:solidFill>
                        </a:rPr>
                        <a:t>Kalman (local)</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dirty="0">
                          <a:solidFill>
                            <a:schemeClr val="tx2"/>
                          </a:solidFill>
                        </a:rPr>
                        <a:t>0.582</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dirty="0">
                          <a:solidFill>
                            <a:schemeClr val="tx2"/>
                          </a:solidFill>
                        </a:rPr>
                        <a:t>0.744</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dirty="0">
                          <a:solidFill>
                            <a:schemeClr val="tx2"/>
                          </a:solidFill>
                        </a:rPr>
                        <a:t>0.280</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dirty="0">
                          <a:solidFill>
                            <a:schemeClr val="tx2"/>
                          </a:solidFill>
                        </a:rPr>
                        <a:t>0.818</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b="1" dirty="0">
                          <a:solidFill>
                            <a:schemeClr val="tx1"/>
                          </a:solidFill>
                        </a:rPr>
                        <a:t>0.903</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r>
              <a:tr h="566928">
                <a:tc>
                  <a:txBody>
                    <a:bodyPr/>
                    <a:lstStyle/>
                    <a:p>
                      <a:pPr indent="0" marL="0">
                        <a:buNone/>
                      </a:pPr>
                      <a:r>
                        <a:rPr lang="en-US" sz="1800" b="1" dirty="0">
                          <a:solidFill>
                            <a:schemeClr val="tx1"/>
                          </a:solidFill>
                        </a:rPr>
                        <a:t>LightGBM (global)</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b="1" dirty="0">
                          <a:solidFill>
                            <a:schemeClr val="tx1"/>
                          </a:solidFill>
                        </a:rPr>
                        <a:t>0.569</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b="1" dirty="0">
                          <a:solidFill>
                            <a:schemeClr val="tx1"/>
                          </a:solidFill>
                        </a:rPr>
                        <a:t>0.732</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b="1" dirty="0">
                          <a:solidFill>
                            <a:schemeClr val="tx1"/>
                          </a:solidFill>
                        </a:rPr>
                        <a:t>0.264</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b="1" dirty="0">
                          <a:solidFill>
                            <a:schemeClr val="tx1"/>
                          </a:solidFill>
                        </a:rPr>
                        <a:t>0.798</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algn="r" indent="0" marL="0">
                        <a:buNone/>
                      </a:pPr>
                      <a:r>
                        <a:rPr lang="en-US" sz="1800" dirty="0">
                          <a:solidFill>
                            <a:schemeClr val="tx2"/>
                          </a:solidFill>
                        </a:rPr>
                        <a:t>0.915</a:t>
                      </a:r>
                      <a:endParaRPr lang="en-US" sz="18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r>
            </a:tbl>
          </a:graphicData>
        </a:graphic>
      </p:graphicFrame>
      <p:sp>
        <p:nvSpPr>
          <p:cNvPr id="6" name="Text 3"/>
          <p:cNvSpPr txBox="1"/>
          <p:nvPr/>
        </p:nvSpPr>
        <p:spPr>
          <a:xfrm>
            <a:off x="8412480" y="1691640"/>
            <a:ext cx="3200400" cy="685800"/>
          </a:xfrm>
          <a:prstGeom prst="rect">
            <a:avLst/>
          </a:prstGeom>
          <a:noFill/>
          <a:ln/>
        </p:spPr>
        <p:txBody>
          <a:bodyPr wrap="square" lIns="0" tIns="0" rIns="0" bIns="0" rtlCol="0" anchor="b"/>
          <a:lstStyle/>
          <a:p>
            <a:pPr indent="0" marL="0">
              <a:buNone/>
            </a:pPr>
            <a:r>
              <a:rPr lang="en-US" sz="4000" b="1" dirty="0">
                <a:solidFill>
                  <a:schemeClr val="accent6"/>
                </a:solidFill>
                <a:latin typeface="Cambria" pitchFamily="34" charset="0"/>
                <a:ea typeface="Cambria" pitchFamily="34" charset="-122"/>
                <a:cs typeface="Cambria" pitchFamily="34" charset="-120"/>
              </a:rPr>
              <a:t>−25%</a:t>
            </a:r>
            <a:endParaRPr lang="en-US" sz="4000" dirty="0"/>
          </a:p>
        </p:txBody>
      </p:sp>
      <p:sp>
        <p:nvSpPr>
          <p:cNvPr id="7" name="Text 4"/>
          <p:cNvSpPr txBox="1"/>
          <p:nvPr/>
        </p:nvSpPr>
        <p:spPr>
          <a:xfrm>
            <a:off x="8412480" y="2423160"/>
            <a:ext cx="3200400" cy="566928"/>
          </a:xfrm>
          <a:prstGeom prst="rect">
            <a:avLst/>
          </a:prstGeom>
          <a:noFill/>
          <a:ln/>
        </p:spPr>
        <p:txBody>
          <a:bodyPr wrap="square" lIns="0" tIns="0" rIns="0" bIns="0" rtlCol="0" anchor="t"/>
          <a:lstStyle/>
          <a:p>
            <a:pPr indent="0" marL="0">
              <a:buNone/>
            </a:pPr>
            <a:r>
              <a:rPr lang="en-US" sz="1500" dirty="0">
                <a:solidFill>
                  <a:schemeClr val="tx2"/>
                </a:solidFill>
              </a:rPr>
              <a:t>WAPE vs seasonal naive</a:t>
            </a:r>
            <a:endParaRPr lang="en-US" sz="1500" dirty="0"/>
          </a:p>
        </p:txBody>
      </p:sp>
      <p:sp>
        <p:nvSpPr>
          <p:cNvPr id="8" name="Text 5"/>
          <p:cNvSpPr txBox="1"/>
          <p:nvPr/>
        </p:nvSpPr>
        <p:spPr>
          <a:xfrm>
            <a:off x="8412480" y="3246120"/>
            <a:ext cx="3200400" cy="685800"/>
          </a:xfrm>
          <a:prstGeom prst="rect">
            <a:avLst/>
          </a:prstGeom>
          <a:noFill/>
          <a:ln/>
        </p:spPr>
        <p:txBody>
          <a:bodyPr wrap="square" lIns="0" tIns="0" rIns="0" bIns="0" rtlCol="0" anchor="b"/>
          <a:lstStyle/>
          <a:p>
            <a:pPr indent="0" marL="0">
              <a:buNone/>
            </a:pPr>
            <a:r>
              <a:rPr lang="en-US" sz="4000" b="1" dirty="0">
                <a:solidFill>
                  <a:schemeClr val="accent6"/>
                </a:solidFill>
                <a:latin typeface="Cambria" pitchFamily="34" charset="0"/>
                <a:ea typeface="Cambria" pitchFamily="34" charset="-122"/>
                <a:cs typeface="Cambria" pitchFamily="34" charset="-120"/>
              </a:rPr>
              <a:t>−5.6%</a:t>
            </a:r>
            <a:endParaRPr lang="en-US" sz="4000" dirty="0"/>
          </a:p>
        </p:txBody>
      </p:sp>
      <p:sp>
        <p:nvSpPr>
          <p:cNvPr id="9" name="Text 6"/>
          <p:cNvSpPr txBox="1"/>
          <p:nvPr/>
        </p:nvSpPr>
        <p:spPr>
          <a:xfrm>
            <a:off x="8412480" y="3977640"/>
            <a:ext cx="3200400" cy="566928"/>
          </a:xfrm>
          <a:prstGeom prst="rect">
            <a:avLst/>
          </a:prstGeom>
          <a:noFill/>
          <a:ln/>
        </p:spPr>
        <p:txBody>
          <a:bodyPr wrap="square" lIns="0" tIns="0" rIns="0" bIns="0" rtlCol="0" anchor="t"/>
          <a:lstStyle/>
          <a:p>
            <a:pPr indent="0" marL="0">
              <a:buNone/>
            </a:pPr>
            <a:r>
              <a:rPr lang="en-US" sz="1500" dirty="0">
                <a:solidFill>
                  <a:schemeClr val="tx2"/>
                </a:solidFill>
              </a:rPr>
              <a:t>SPL vs Kalman · DM p &lt; 10⁻²⁰ · better on 79% of series</a:t>
            </a:r>
            <a:endParaRPr lang="en-US" sz="1500" dirty="0"/>
          </a:p>
        </p:txBody>
      </p:sp>
      <p:sp>
        <p:nvSpPr>
          <p:cNvPr id="10" name="Text 7"/>
          <p:cNvSpPr txBox="1"/>
          <p:nvPr/>
        </p:nvSpPr>
        <p:spPr>
          <a:xfrm>
            <a:off x="548640" y="4937760"/>
            <a:ext cx="7315200" cy="457200"/>
          </a:xfrm>
          <a:prstGeom prst="rect">
            <a:avLst/>
          </a:prstGeom>
          <a:noFill/>
          <a:ln/>
        </p:spPr>
        <p:txBody>
          <a:bodyPr wrap="square" lIns="0" tIns="0" rIns="0" bIns="0" rtlCol="0" anchor="t"/>
          <a:lstStyle/>
          <a:p>
            <a:pPr indent="0" marL="0">
              <a:buNone/>
            </a:pPr>
            <a:r>
              <a:rPr lang="en-US" sz="1800" dirty="0">
                <a:solidFill>
                  <a:schemeClr val="tx2"/>
                </a:solidFill>
              </a:rPr>
              <a:t>Kalman is the best </a:t>
            </a:r>
            <a:pPr indent="0" marL="0">
              <a:buNone/>
            </a:pPr>
            <a:r>
              <a:rPr lang="en-US" sz="1800" b="1" dirty="0">
                <a:solidFill>
                  <a:schemeClr val="tx1"/>
                </a:solidFill>
              </a:rPr>
              <a:t>local</a:t>
            </a:r>
            <a:pPr indent="0" marL="0">
              <a:buNone/>
            </a:pPr>
            <a:r>
              <a:rPr lang="en-US" sz="1800" dirty="0">
                <a:solidFill>
                  <a:schemeClr val="tx2"/>
                </a:solidFill>
              </a:rPr>
              <a:t> method and the best-calibrated at 90% (0.903).</a:t>
            </a:r>
            <a:endParaRPr lang="en-US" sz="18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lIns="0" tIns="0" rIns="0" bIns="0" rtlCol="0"/>
          <a:lstStyle/>
          <a:p>
            <a:pPr algn="l" indent="0" marL="0">
              <a:buNone/>
            </a:pPr>
            <a:r>
              <a:rPr lang="en-US" sz="1300" b="1" spc="200" kern="0" dirty="0">
                <a:solidFill>
                  <a:schemeClr val="accent1"/>
                </a:solidFill>
              </a:rPr>
              <a:t>RESULTS · HORIZON</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400" b="1" dirty="0">
                <a:solidFill>
                  <a:schemeClr val="tx1"/>
                </a:solidFill>
              </a:rPr>
              <a:t>The ranking holds at every horizon</a:t>
            </a:r>
            <a:endParaRPr lang="en-US" sz="3400" dirty="0"/>
          </a:p>
        </p:txBody>
      </p:sp>
      <p:sp>
        <p:nvSpPr>
          <p:cNvPr id="4" name="Text 1"/>
          <p:cNvSpPr/>
          <p:nvPr>
            <p:ph idx="103" type="body" hasCustomPrompt="1"/>
          </p:nvPr>
        </p:nvSpPr>
        <p:spPr>
          <a:xfrm>
            <a:off x="2286000" y="6382512"/>
            <a:ext cx="8595360" cy="274320"/>
          </a:xfrm>
          <a:prstGeom prst="rect">
            <a:avLst/>
          </a:prstGeom>
          <a:noFill/>
          <a:ln/>
        </p:spPr>
        <p:txBody>
          <a:bodyPr wrap="square" lIns="0" tIns="0" rIns="0" bIns="0" rtlCol="0"/>
          <a:lstStyle/>
          <a:p>
            <a:pPr algn="l" indent="0" marL="0">
              <a:buNone/>
            </a:pPr>
            <a:r>
              <a:rPr lang="en-US" sz="1100" dirty="0">
                <a:solidFill>
                  <a:schemeClr val="tx2"/>
                </a:solidFill>
              </a:rPr>
              <a:t>Saw-tooth = weekday cycle · lag-7 model helps at h ≤ 7: SPL 0.260 vs 0.264, p = 0.003</a:t>
            </a:r>
            <a:endParaRPr lang="en-US" sz="1100" dirty="0"/>
          </a:p>
        </p:txBody>
      </p:sp>
      <p:graphicFrame>
        <p:nvGraphicFramePr>
          <p:cNvPr id="5" name="WAPE by horizon" descr=""/>
          <p:cNvGraphicFramePr/>
          <p:nvPr/>
        </p:nvGraphicFramePr>
        <p:xfrm>
          <a:off x="548640" y="1645920"/>
          <a:ext cx="5440680" cy="45262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SPL by horizon" descr=""/>
          <p:cNvGraphicFramePr/>
          <p:nvPr/>
        </p:nvGraphicFramePr>
        <p:xfrm>
          <a:off x="6199632" y="1645920"/>
          <a:ext cx="5440680" cy="452628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lIns="0" tIns="0" rIns="0" bIns="0" rtlCol="0"/>
          <a:lstStyle/>
          <a:p>
            <a:pPr algn="l" indent="0" marL="0">
              <a:buNone/>
            </a:pPr>
            <a:r>
              <a:rPr lang="en-US" sz="1300" b="1" spc="200" kern="0" dirty="0">
                <a:solidFill>
                  <a:schemeClr val="accent1"/>
                </a:solidFill>
              </a:rPr>
              <a:t>RESULTS · DEMAND CLASS</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400" b="1" dirty="0">
                <a:solidFill>
                  <a:schemeClr val="tx1"/>
                </a:solidFill>
              </a:rPr>
              <a:t>The gap grows as demand gets sparser</a:t>
            </a:r>
            <a:endParaRPr lang="en-US" sz="3400" dirty="0"/>
          </a:p>
        </p:txBody>
      </p:sp>
      <p:sp>
        <p:nvSpPr>
          <p:cNvPr id="4" name="Text 1"/>
          <p:cNvSpPr/>
          <p:nvPr>
            <p:ph idx="103" type="body" hasCustomPrompt="1"/>
          </p:nvPr>
        </p:nvSpPr>
        <p:spPr>
          <a:xfrm>
            <a:off x="2286000" y="6382512"/>
            <a:ext cx="8595360" cy="274320"/>
          </a:xfrm>
          <a:prstGeom prst="rect">
            <a:avLst/>
          </a:prstGeom>
          <a:noFill/>
          <a:ln/>
        </p:spPr>
        <p:txBody>
          <a:bodyPr wrap="square" lIns="0" tIns="0" rIns="0" bIns="0" rtlCol="0"/>
          <a:lstStyle/>
          <a:p>
            <a:pPr algn="l" indent="0" marL="0">
              <a:buNone/>
            </a:pPr>
            <a:r>
              <a:rPr lang="en-US" sz="1100" dirty="0">
                <a:solidFill>
                  <a:schemeClr val="tx2"/>
                </a:solidFill>
              </a:rPr>
              <a:t>Stockout-masked; on intermittent series even TSB beats the filter on WAPE (0.813 vs 0.836)</a:t>
            </a:r>
            <a:endParaRPr lang="en-US" sz="1100" dirty="0"/>
          </a:p>
        </p:txBody>
      </p:sp>
      <p:graphicFrame>
        <p:nvGraphicFramePr>
          <p:cNvPr id="5" name="SPL by class" descr=""/>
          <p:cNvGraphicFramePr/>
          <p:nvPr/>
        </p:nvGraphicFramePr>
        <p:xfrm>
          <a:off x="548640" y="1645920"/>
          <a:ext cx="7040880" cy="45262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001000" y="1737360"/>
            <a:ext cx="3639312" cy="640080"/>
          </a:xfrm>
          <a:prstGeom prst="rect">
            <a:avLst/>
          </a:prstGeom>
          <a:noFill/>
          <a:ln/>
        </p:spPr>
        <p:txBody>
          <a:bodyPr wrap="square" lIns="0" tIns="0" rIns="0" bIns="0" rtlCol="0" anchor="t"/>
          <a:lstStyle/>
          <a:p>
            <a:pPr indent="0" marL="0">
              <a:buNone/>
            </a:pPr>
            <a:r>
              <a:rPr lang="en-US" sz="1600" dirty="0">
                <a:solidFill>
                  <a:schemeClr val="tx2"/>
                </a:solidFill>
              </a:rPr>
              <a:t>How much lower LightGBM’s SPL is than the Kalman filter’s</a:t>
            </a:r>
            <a:endParaRPr lang="en-US" sz="1600" dirty="0"/>
          </a:p>
        </p:txBody>
      </p:sp>
      <p:sp>
        <p:nvSpPr>
          <p:cNvPr id="7" name="Shape 4"/>
          <p:cNvSpPr/>
          <p:nvPr/>
        </p:nvSpPr>
        <p:spPr>
          <a:xfrm>
            <a:off x="8001000" y="2560320"/>
            <a:ext cx="3639312" cy="0"/>
          </a:xfrm>
          <a:prstGeom prst="line">
            <a:avLst/>
          </a:prstGeom>
          <a:noFill/>
          <a:ln w="9525">
            <a:solidFill>
              <a:srgbClr val="D9D4C7"/>
            </a:solidFill>
            <a:prstDash val="solid"/>
          </a:ln>
        </p:spPr>
      </p:sp>
      <p:sp>
        <p:nvSpPr>
          <p:cNvPr id="8" name="Text 5"/>
          <p:cNvSpPr txBox="1"/>
          <p:nvPr/>
        </p:nvSpPr>
        <p:spPr>
          <a:xfrm>
            <a:off x="8001000" y="2670048"/>
            <a:ext cx="1371600" cy="77724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3%</a:t>
            </a:r>
            <a:endParaRPr lang="en-US" sz="4000" dirty="0"/>
          </a:p>
        </p:txBody>
      </p:sp>
      <p:sp>
        <p:nvSpPr>
          <p:cNvPr id="9" name="Text 6"/>
          <p:cNvSpPr txBox="1"/>
          <p:nvPr/>
        </p:nvSpPr>
        <p:spPr>
          <a:xfrm>
            <a:off x="9418320" y="2670048"/>
            <a:ext cx="2194560" cy="777240"/>
          </a:xfrm>
          <a:prstGeom prst="rect">
            <a:avLst/>
          </a:prstGeom>
          <a:noFill/>
          <a:ln/>
        </p:spPr>
        <p:txBody>
          <a:bodyPr wrap="square" lIns="0" tIns="0" rIns="0" bIns="0" rtlCol="0" anchor="ctr"/>
          <a:lstStyle/>
          <a:p>
            <a:pPr indent="0" marL="0">
              <a:buNone/>
            </a:pPr>
            <a:r>
              <a:rPr lang="en-US" sz="1800" dirty="0">
                <a:solidFill>
                  <a:schemeClr val="tx2"/>
                </a:solidFill>
              </a:rPr>
              <a:t>smooth, erratic</a:t>
            </a:r>
            <a:endParaRPr lang="en-US" sz="1800" dirty="0"/>
          </a:p>
        </p:txBody>
      </p:sp>
      <p:sp>
        <p:nvSpPr>
          <p:cNvPr id="10" name="Shape 7"/>
          <p:cNvSpPr/>
          <p:nvPr/>
        </p:nvSpPr>
        <p:spPr>
          <a:xfrm>
            <a:off x="8001000" y="3703320"/>
            <a:ext cx="3639312" cy="0"/>
          </a:xfrm>
          <a:prstGeom prst="line">
            <a:avLst/>
          </a:prstGeom>
          <a:noFill/>
          <a:ln w="9525">
            <a:solidFill>
              <a:srgbClr val="D9D4C7"/>
            </a:solidFill>
            <a:prstDash val="solid"/>
          </a:ln>
        </p:spPr>
      </p:sp>
      <p:sp>
        <p:nvSpPr>
          <p:cNvPr id="11" name="Text 8"/>
          <p:cNvSpPr txBox="1"/>
          <p:nvPr/>
        </p:nvSpPr>
        <p:spPr>
          <a:xfrm>
            <a:off x="8001000" y="3813048"/>
            <a:ext cx="1371600" cy="77724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4%</a:t>
            </a:r>
            <a:endParaRPr lang="en-US" sz="4000" dirty="0"/>
          </a:p>
        </p:txBody>
      </p:sp>
      <p:sp>
        <p:nvSpPr>
          <p:cNvPr id="12" name="Text 9"/>
          <p:cNvSpPr txBox="1"/>
          <p:nvPr/>
        </p:nvSpPr>
        <p:spPr>
          <a:xfrm>
            <a:off x="9418320" y="3813048"/>
            <a:ext cx="2194560" cy="777240"/>
          </a:xfrm>
          <a:prstGeom prst="rect">
            <a:avLst/>
          </a:prstGeom>
          <a:noFill/>
          <a:ln/>
        </p:spPr>
        <p:txBody>
          <a:bodyPr wrap="square" lIns="0" tIns="0" rIns="0" bIns="0" rtlCol="0" anchor="ctr"/>
          <a:lstStyle/>
          <a:p>
            <a:pPr indent="0" marL="0">
              <a:buNone/>
            </a:pPr>
            <a:r>
              <a:rPr lang="en-US" sz="1800" dirty="0">
                <a:solidFill>
                  <a:schemeClr val="tx2"/>
                </a:solidFill>
              </a:rPr>
              <a:t>lumpy</a:t>
            </a:r>
            <a:endParaRPr lang="en-US" sz="1800" dirty="0"/>
          </a:p>
        </p:txBody>
      </p:sp>
      <p:sp>
        <p:nvSpPr>
          <p:cNvPr id="13" name="Shape 10"/>
          <p:cNvSpPr/>
          <p:nvPr/>
        </p:nvSpPr>
        <p:spPr>
          <a:xfrm>
            <a:off x="8001000" y="4846320"/>
            <a:ext cx="3639312" cy="0"/>
          </a:xfrm>
          <a:prstGeom prst="line">
            <a:avLst/>
          </a:prstGeom>
          <a:noFill/>
          <a:ln w="9525">
            <a:solidFill>
              <a:srgbClr val="D9D4C7"/>
            </a:solidFill>
            <a:prstDash val="solid"/>
          </a:ln>
        </p:spPr>
      </p:sp>
      <p:sp>
        <p:nvSpPr>
          <p:cNvPr id="14" name="Text 11"/>
          <p:cNvSpPr txBox="1"/>
          <p:nvPr/>
        </p:nvSpPr>
        <p:spPr>
          <a:xfrm>
            <a:off x="8001000" y="4956048"/>
            <a:ext cx="1371600" cy="777240"/>
          </a:xfrm>
          <a:prstGeom prst="rect">
            <a:avLst/>
          </a:prstGeom>
          <a:noFill/>
          <a:ln/>
        </p:spPr>
        <p:txBody>
          <a:bodyPr wrap="square" lIns="0" tIns="0" rIns="0" bIns="0" rtlCol="0" anchor="ctr"/>
          <a:lstStyle/>
          <a:p>
            <a:pPr indent="0" marL="0">
              <a:buNone/>
            </a:pPr>
            <a:r>
              <a:rPr lang="en-US" sz="4000" b="1" dirty="0">
                <a:solidFill>
                  <a:schemeClr val="accent6"/>
                </a:solidFill>
                <a:latin typeface="Cambria" pitchFamily="34" charset="0"/>
                <a:ea typeface="Cambria" pitchFamily="34" charset="-122"/>
                <a:cs typeface="Cambria" pitchFamily="34" charset="-120"/>
              </a:rPr>
              <a:t>9%</a:t>
            </a:r>
            <a:endParaRPr lang="en-US" sz="4000" dirty="0"/>
          </a:p>
        </p:txBody>
      </p:sp>
      <p:sp>
        <p:nvSpPr>
          <p:cNvPr id="15" name="Text 12"/>
          <p:cNvSpPr txBox="1"/>
          <p:nvPr/>
        </p:nvSpPr>
        <p:spPr>
          <a:xfrm>
            <a:off x="9418320" y="4956048"/>
            <a:ext cx="2194560" cy="777240"/>
          </a:xfrm>
          <a:prstGeom prst="rect">
            <a:avLst/>
          </a:prstGeom>
          <a:noFill/>
          <a:ln/>
        </p:spPr>
        <p:txBody>
          <a:bodyPr wrap="square" lIns="0" tIns="0" rIns="0" bIns="0" rtlCol="0" anchor="ctr"/>
          <a:lstStyle/>
          <a:p>
            <a:pPr indent="0" marL="0">
              <a:buNone/>
            </a:pPr>
            <a:r>
              <a:rPr lang="en-US" sz="1800" b="1" dirty="0">
                <a:solidFill>
                  <a:schemeClr val="tx1"/>
                </a:solidFill>
              </a:rPr>
              <a:t>intermittent</a:t>
            </a:r>
            <a:endParaRPr lang="en-US" sz="18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lIns="0" tIns="0" rIns="0" bIns="0" rtlCol="0"/>
          <a:lstStyle/>
          <a:p>
            <a:pPr algn="l" indent="0" marL="0">
              <a:buNone/>
            </a:pPr>
            <a:r>
              <a:rPr lang="en-US" sz="1300" b="1" spc="200" kern="0" dirty="0">
                <a:solidFill>
                  <a:schemeClr val="accent1"/>
                </a:solidFill>
              </a:rPr>
              <a:t>RESULTS · COLD START</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400" b="1" dirty="0">
                <a:solidFill>
                  <a:schemeClr val="tx1"/>
                </a:solidFill>
              </a:rPr>
              <a:t>New items expose the local filter</a:t>
            </a:r>
            <a:endParaRPr lang="en-US" sz="3400" dirty="0"/>
          </a:p>
        </p:txBody>
      </p:sp>
      <p:sp>
        <p:nvSpPr>
          <p:cNvPr id="4" name="Text 1"/>
          <p:cNvSpPr/>
          <p:nvPr>
            <p:ph idx="103" type="body" hasCustomPrompt="1"/>
          </p:nvPr>
        </p:nvSpPr>
        <p:spPr>
          <a:xfrm>
            <a:off x="2286000" y="6382512"/>
            <a:ext cx="8595360" cy="274320"/>
          </a:xfrm>
          <a:prstGeom prst="rect">
            <a:avLst/>
          </a:prstGeom>
          <a:noFill/>
          <a:ln/>
        </p:spPr>
        <p:txBody>
          <a:bodyPr wrap="square" lIns="0" tIns="0" rIns="0" bIns="0" rtlCol="0"/>
          <a:lstStyle/>
          <a:p>
            <a:pPr algn="l" indent="0" marL="0">
              <a:buNone/>
            </a:pPr>
            <a:r>
              <a:rPr lang="en-US" sz="1100" dirty="0">
                <a:solidFill>
                  <a:schemeClr val="tx2"/>
                </a:solidFill>
              </a:rPr>
              <a:t>150 simulated new items; own history hidden, cross-store features exclude own sales</a:t>
            </a:r>
            <a:endParaRPr lang="en-US" sz="1100" dirty="0"/>
          </a:p>
        </p:txBody>
      </p:sp>
      <p:graphicFrame>
        <p:nvGraphicFramePr>
          <p:cNvPr id="5" name="cold-start curve" descr=""/>
          <p:cNvGraphicFramePr/>
          <p:nvPr/>
        </p:nvGraphicFramePr>
        <p:xfrm>
          <a:off x="548640" y="1645920"/>
          <a:ext cx="6949440" cy="45262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955280" y="1691640"/>
            <a:ext cx="3657600" cy="685800"/>
          </a:xfrm>
          <a:prstGeom prst="rect">
            <a:avLst/>
          </a:prstGeom>
          <a:noFill/>
          <a:ln/>
        </p:spPr>
        <p:txBody>
          <a:bodyPr wrap="square" lIns="0" tIns="0" rIns="0" bIns="0" rtlCol="0" anchor="b"/>
          <a:lstStyle/>
          <a:p>
            <a:pPr indent="0" marL="0">
              <a:buNone/>
            </a:pPr>
            <a:r>
              <a:rPr lang="en-US" sz="4000" b="1" dirty="0">
                <a:solidFill>
                  <a:schemeClr val="accent6"/>
                </a:solidFill>
                <a:latin typeface="Cambria" pitchFamily="34" charset="0"/>
                <a:ea typeface="Cambria" pitchFamily="34" charset="-122"/>
                <a:cs typeface="Cambria" pitchFamily="34" charset="-120"/>
              </a:rPr>
              <a:t>19%</a:t>
            </a:r>
            <a:endParaRPr lang="en-US" sz="4000" dirty="0"/>
          </a:p>
        </p:txBody>
      </p:sp>
      <p:sp>
        <p:nvSpPr>
          <p:cNvPr id="7" name="Text 4"/>
          <p:cNvSpPr txBox="1"/>
          <p:nvPr/>
        </p:nvSpPr>
        <p:spPr>
          <a:xfrm>
            <a:off x="7955280" y="2423160"/>
            <a:ext cx="3657600" cy="566928"/>
          </a:xfrm>
          <a:prstGeom prst="rect">
            <a:avLst/>
          </a:prstGeom>
          <a:noFill/>
          <a:ln/>
        </p:spPr>
        <p:txBody>
          <a:bodyPr wrap="square" lIns="0" tIns="0" rIns="0" bIns="0" rtlCol="0" anchor="t"/>
          <a:lstStyle/>
          <a:p>
            <a:pPr indent="0" marL="0">
              <a:buNone/>
            </a:pPr>
            <a:r>
              <a:rPr lang="en-US" sz="1500" dirty="0">
                <a:solidFill>
                  <a:schemeClr val="tx2"/>
                </a:solidFill>
              </a:rPr>
              <a:t>lower SPL for LightGBM with 7–13 days of history</a:t>
            </a:r>
            <a:endParaRPr lang="en-US" sz="1500" dirty="0"/>
          </a:p>
        </p:txBody>
      </p:sp>
      <p:sp>
        <p:nvSpPr>
          <p:cNvPr id="8" name="Text 5"/>
          <p:cNvSpPr txBox="1"/>
          <p:nvPr/>
        </p:nvSpPr>
        <p:spPr>
          <a:xfrm>
            <a:off x="7955280" y="3154680"/>
            <a:ext cx="3657600" cy="685800"/>
          </a:xfrm>
          <a:prstGeom prst="rect">
            <a:avLst/>
          </a:prstGeom>
          <a:noFill/>
          <a:ln/>
        </p:spPr>
        <p:txBody>
          <a:bodyPr wrap="square" lIns="0" tIns="0" rIns="0" bIns="0" rtlCol="0" anchor="b"/>
          <a:lstStyle/>
          <a:p>
            <a:pPr indent="0" marL="0">
              <a:buNone/>
            </a:pPr>
            <a:r>
              <a:rPr lang="en-US" sz="4000" b="1" dirty="0">
                <a:solidFill>
                  <a:schemeClr val="tx1"/>
                </a:solidFill>
                <a:latin typeface="Cambria" pitchFamily="34" charset="0"/>
                <a:ea typeface="Cambria" pitchFamily="34" charset="-122"/>
                <a:cs typeface="Cambria" pitchFamily="34" charset="-120"/>
              </a:rPr>
              <a:t>71% vs 90%</a:t>
            </a:r>
            <a:endParaRPr lang="en-US" sz="4000" dirty="0"/>
          </a:p>
        </p:txBody>
      </p:sp>
      <p:sp>
        <p:nvSpPr>
          <p:cNvPr id="9" name="Text 6"/>
          <p:cNvSpPr txBox="1"/>
          <p:nvPr/>
        </p:nvSpPr>
        <p:spPr>
          <a:xfrm>
            <a:off x="7955280" y="3886200"/>
            <a:ext cx="3657600" cy="566928"/>
          </a:xfrm>
          <a:prstGeom prst="rect">
            <a:avLst/>
          </a:prstGeom>
          <a:noFill/>
          <a:ln/>
        </p:spPr>
        <p:txBody>
          <a:bodyPr wrap="square" lIns="0" tIns="0" rIns="0" bIns="0" rtlCol="0" anchor="t"/>
          <a:lstStyle/>
          <a:p>
            <a:pPr indent="0" marL="0">
              <a:buNone/>
            </a:pPr>
            <a:r>
              <a:rPr lang="en-US" sz="1500" dirty="0">
                <a:solidFill>
                  <a:schemeClr val="tx2"/>
                </a:solidFill>
              </a:rPr>
              <a:t>coverage of the 90% interval: Kalman (over-confident) vs LightGBM</a:t>
            </a:r>
            <a:endParaRPr lang="en-US" sz="1500" dirty="0"/>
          </a:p>
        </p:txBody>
      </p:sp>
      <p:sp>
        <p:nvSpPr>
          <p:cNvPr id="10" name="Text 7"/>
          <p:cNvSpPr txBox="1"/>
          <p:nvPr/>
        </p:nvSpPr>
        <p:spPr>
          <a:xfrm>
            <a:off x="7955280" y="4617720"/>
            <a:ext cx="3657600" cy="685800"/>
          </a:xfrm>
          <a:prstGeom prst="rect">
            <a:avLst/>
          </a:prstGeom>
          <a:noFill/>
          <a:ln/>
        </p:spPr>
        <p:txBody>
          <a:bodyPr wrap="square" lIns="0" tIns="0" rIns="0" bIns="0" rtlCol="0" anchor="b"/>
          <a:lstStyle/>
          <a:p>
            <a:pPr indent="0" marL="0">
              <a:buNone/>
            </a:pPr>
            <a:r>
              <a:rPr lang="en-US" sz="4000" b="1" dirty="0">
                <a:solidFill>
                  <a:schemeClr val="tx1"/>
                </a:solidFill>
                <a:latin typeface="Cambria" pitchFamily="34" charset="0"/>
                <a:ea typeface="Cambria" pitchFamily="34" charset="-122"/>
                <a:cs typeface="Cambria" pitchFamily="34" charset="-120"/>
              </a:rPr>
              <a:t>~10%</a:t>
            </a:r>
            <a:endParaRPr lang="en-US" sz="4000" dirty="0"/>
          </a:p>
        </p:txBody>
      </p:sp>
      <p:sp>
        <p:nvSpPr>
          <p:cNvPr id="11" name="Text 8"/>
          <p:cNvSpPr txBox="1"/>
          <p:nvPr/>
        </p:nvSpPr>
        <p:spPr>
          <a:xfrm>
            <a:off x="7955280" y="5349240"/>
            <a:ext cx="3657600" cy="566928"/>
          </a:xfrm>
          <a:prstGeom prst="rect">
            <a:avLst/>
          </a:prstGeom>
          <a:noFill/>
          <a:ln/>
        </p:spPr>
        <p:txBody>
          <a:bodyPr wrap="square" lIns="0" tIns="0" rIns="0" bIns="0" rtlCol="0" anchor="t"/>
          <a:lstStyle/>
          <a:p>
            <a:pPr indent="0" marL="0">
              <a:buNone/>
            </a:pPr>
            <a:r>
              <a:rPr lang="en-US" sz="1500" dirty="0">
                <a:solidFill>
                  <a:schemeClr val="tx2"/>
                </a:solidFill>
              </a:rPr>
              <a:t>gap left by 56–89 days: the filter catches up fast</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lIns="0" tIns="0" rIns="0" bIns="0" rtlCol="0"/>
          <a:lstStyle/>
          <a:p>
            <a:pPr algn="l" indent="0" marL="0">
              <a:buNone/>
            </a:pPr>
            <a:r>
              <a:rPr lang="en-US" sz="1300" b="1" spc="200" kern="0" dirty="0">
                <a:solidFill>
                  <a:schemeClr val="accent1"/>
                </a:solidFill>
              </a:rPr>
              <a:t>RESULTS · UNCERTAINTY</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400" b="1" dirty="0">
                <a:solidFill>
                  <a:schemeClr val="tx1"/>
                </a:solidFill>
              </a:rPr>
              <a:t>Intervals that respect the zeros</a:t>
            </a:r>
            <a:endParaRPr lang="en-US" sz="3400" dirty="0"/>
          </a:p>
        </p:txBody>
      </p:sp>
      <p:sp>
        <p:nvSpPr>
          <p:cNvPr id="4" name="Text 1"/>
          <p:cNvSpPr/>
          <p:nvPr>
            <p:ph idx="103" type="body" hasCustomPrompt="1"/>
          </p:nvPr>
        </p:nvSpPr>
        <p:spPr>
          <a:xfrm>
            <a:off x="2286000" y="6382512"/>
            <a:ext cx="8595360" cy="274320"/>
          </a:xfrm>
          <a:prstGeom prst="rect">
            <a:avLst/>
          </a:prstGeom>
          <a:noFill/>
          <a:ln/>
        </p:spPr>
        <p:txBody>
          <a:bodyPr wrap="square" lIns="0" tIns="0" rIns="0" bIns="0" rtlCol="0"/>
          <a:lstStyle/>
          <a:p>
            <a:pPr algn="l" indent="0" marL="0">
              <a:buNone/>
            </a:pPr>
            <a:r>
              <a:rPr lang="en-US" sz="1100" dirty="0">
                <a:solidFill>
                  <a:schemeClr val="tx2"/>
                </a:solidFill>
              </a:rPr>
              <a:t>For counts, quantile α is calibrated when P(y &lt; q) ≤ α ≤ P(y ≤ q)</a:t>
            </a:r>
            <a:endParaRPr lang="en-US" sz="1100" dirty="0"/>
          </a:p>
        </p:txBody>
      </p:sp>
      <p:pic>
        <p:nvPicPr>
          <p:cNvPr id="5" name="calibration.png" descr="Reliability diagram for count data: each quantile drawn as an interval; learned models cross the diagonal at low quantiles and sit just under it at 0.9 and 0.95">    </p:cNvPr>
          <p:cNvPicPr>
            <a:picLocks noChangeAspect="1"/>
          </p:cNvPicPr>
          <p:nvPr/>
        </p:nvPicPr>
        <p:blipFill>
          <a:blip r:embed="rId1"/>
          <a:stretch>
            <a:fillRect/>
          </a:stretch>
        </p:blipFill>
        <p:spPr>
          <a:xfrm>
            <a:off x="548640" y="1925662"/>
            <a:ext cx="4206240" cy="3966796"/>
          </a:xfrm>
          <a:prstGeom prst="rect">
            <a:avLst/>
          </a:prstGeom>
        </p:spPr>
      </p:pic>
      <p:pic>
        <p:nvPicPr>
          <p:cNvPr id="6" name="fan_charts.png" descr="Fan charts at the last origin for a smooth and an intermittent series, Kalman versus LightGBM, with 50 and 90 percent intervals">    </p:cNvPr>
          <p:cNvPicPr>
            <a:picLocks noChangeAspect="1"/>
          </p:cNvPicPr>
          <p:nvPr/>
        </p:nvPicPr>
        <p:blipFill>
          <a:blip r:embed="rId2"/>
          <a:stretch>
            <a:fillRect/>
          </a:stretch>
        </p:blipFill>
        <p:spPr>
          <a:xfrm>
            <a:off x="4986526" y="1645920"/>
            <a:ext cx="6650740" cy="4526280"/>
          </a:xfrm>
          <a:prstGeom prst="rect">
            <a:avLst/>
          </a:prstGeom>
        </p:spPr>
      </p:pic>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9144000" cy="365760"/>
          </a:xfrm>
          <a:prstGeom prst="rect">
            <a:avLst/>
          </a:prstGeom>
          <a:noFill/>
          <a:ln/>
        </p:spPr>
        <p:txBody>
          <a:bodyPr wrap="square" lIns="0" tIns="0" rIns="0" bIns="0" rtlCol="0"/>
          <a:lstStyle/>
          <a:p>
            <a:pPr algn="l" indent="0" marL="0">
              <a:buNone/>
            </a:pPr>
            <a:r>
              <a:rPr lang="en-US" sz="1400" b="1" spc="300" kern="0" dirty="0">
                <a:solidFill>
                  <a:schemeClr val="bg2"/>
                </a:solidFill>
              </a:rPr>
              <a:t>THE VERDICT</a:t>
            </a:r>
            <a:endParaRPr lang="en-US" sz="1400" dirty="0"/>
          </a:p>
        </p:txBody>
      </p:sp>
      <p:sp>
        <p:nvSpPr>
          <p:cNvPr id="3" name="Text 0"/>
          <p:cNvSpPr/>
          <p:nvPr>
            <p:ph idx="101" type="title" hasCustomPrompt="1"/>
          </p:nvPr>
        </p:nvSpPr>
        <p:spPr>
          <a:xfrm>
            <a:off x="548640" y="1645920"/>
            <a:ext cx="10515600" cy="2011680"/>
          </a:xfrm>
          <a:prstGeom prst="rect">
            <a:avLst/>
          </a:prstGeom>
          <a:noFill/>
          <a:ln/>
        </p:spPr>
        <p:txBody>
          <a:bodyPr wrap="square" lIns="0" tIns="0" rIns="0" bIns="0" rtlCol="0" anchor="t"/>
          <a:lstStyle/>
          <a:p>
            <a:pPr algn="l" indent="0" marL="0">
              <a:buNone/>
            </a:pPr>
            <a:r>
              <a:rPr lang="en-US" sz="5400" b="1" dirty="0">
                <a:solidFill>
                  <a:schemeClr val="bg1"/>
                </a:solidFill>
              </a:rPr>
              <a:t>Global wins, most of all where data is scarce</a:t>
            </a:r>
            <a:endParaRPr lang="en-US" sz="5400" dirty="0"/>
          </a:p>
        </p:txBody>
      </p:sp>
      <p:sp>
        <p:nvSpPr>
          <p:cNvPr id="4" name="Text 0"/>
          <p:cNvSpPr/>
          <p:nvPr>
            <p:ph idx="102" type="body" hasCustomPrompt="1"/>
          </p:nvPr>
        </p:nvSpPr>
        <p:spPr>
          <a:xfrm>
            <a:off x="548640" y="3840480"/>
            <a:ext cx="9601200" cy="1463040"/>
          </a:xfrm>
          <a:prstGeom prst="rect">
            <a:avLst/>
          </a:prstGeom>
          <a:noFill/>
          <a:ln/>
        </p:spPr>
        <p:txBody>
          <a:bodyPr wrap="square" lIns="0" tIns="0" rIns="0" bIns="0" rtlCol="0" anchor="t"/>
          <a:lstStyle/>
          <a:p>
            <a:pPr algn="l" indent="0" marL="0">
              <a:buNone/>
            </a:pPr>
            <a:r>
              <a:rPr lang="en-US" sz="2200" dirty="0">
                <a:solidFill>
                  <a:schemeClr val="bg2"/>
                </a:solidFill>
              </a:rPr>
              <a:t>The local filter still adapts fastest, treats stockouts exactly and is the best-calibrated model once an item has history. The two approaches are complementary, and that is the case for a hybrid.</a:t>
            </a:r>
            <a:endParaRPr lang="en-US" sz="2200" dirty="0"/>
          </a:p>
        </p:txBody>
      </p:sp>
      <p:sp>
        <p:nvSpPr>
          <p:cNvPr id="5" name="Shape 3"/>
          <p:cNvSpPr/>
          <p:nvPr/>
        </p:nvSpPr>
        <p:spPr>
          <a:xfrm>
            <a:off x="9966960" y="5120640"/>
            <a:ext cx="1005840" cy="1005840"/>
          </a:xfrm>
          <a:prstGeom prst="ellipse">
            <a:avLst/>
          </a:prstGeom>
          <a:solidFill>
            <a:schemeClr val="accent1">
              <a:alpha val="85000"/>
            </a:schemeClr>
          </a:solidFill>
          <a:ln/>
        </p:spPr>
      </p:sp>
      <p:sp>
        <p:nvSpPr>
          <p:cNvPr id="6" name="Shape 4"/>
          <p:cNvSpPr/>
          <p:nvPr/>
        </p:nvSpPr>
        <p:spPr>
          <a:xfrm>
            <a:off x="10515600" y="5349240"/>
            <a:ext cx="868680" cy="868680"/>
          </a:xfrm>
          <a:prstGeom prst="ellipse">
            <a:avLst/>
          </a:prstGeom>
          <a:solidFill>
            <a:schemeClr val="accent2">
              <a:alpha val="80000"/>
            </a:schemeClr>
          </a:solidFill>
          <a:ln/>
        </p:spPr>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lIns="0" tIns="0" rIns="0" bIns="0" rtlCol="0"/>
          <a:lstStyle/>
          <a:p>
            <a:pPr algn="l" indent="0" marL="0">
              <a:buNone/>
            </a:pPr>
            <a:r>
              <a:rPr lang="en-US" sz="1300" b="1" spc="200" kern="0" dirty="0">
                <a:solidFill>
                  <a:schemeClr val="accent1"/>
                </a:solidFill>
              </a:rPr>
              <a:t>NEXT: PHASE 2</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400" b="1" dirty="0">
                <a:solidFill>
                  <a:schemeClr val="tx1"/>
                </a:solidFill>
              </a:rPr>
              <a:t>A global deep model, then a Kalman hybrid</a:t>
            </a:r>
            <a:endParaRPr lang="en-US" sz="3400" dirty="0"/>
          </a:p>
        </p:txBody>
      </p:sp>
      <p:sp>
        <p:nvSpPr>
          <p:cNvPr id="4" name="Text 1"/>
          <p:cNvSpPr/>
          <p:nvPr>
            <p:ph idx="103" type="body" hasCustomPrompt="1"/>
          </p:nvPr>
        </p:nvSpPr>
        <p:spPr>
          <a:xfrm>
            <a:off x="2286000" y="6382512"/>
            <a:ext cx="8595360" cy="274320"/>
          </a:xfrm>
          <a:prstGeom prst="rect">
            <a:avLst/>
          </a:prstGeom>
          <a:noFill/>
          <a:ln/>
        </p:spPr>
        <p:txBody>
          <a:bodyPr wrap="square" lIns="0" tIns="0" rIns="0" bIns="0" rtlCol="0"/>
          <a:lstStyle/>
          <a:p>
            <a:pPr algn="l" indent="0" marL="0">
              <a:buNone/>
            </a:pPr>
            <a:r>
              <a:rPr lang="en-US" sz="1100" dirty="0">
                <a:solidFill>
                  <a:schemeClr val="tx2"/>
                </a:solidFill>
              </a:rPr>
              <a:t>Salinas et al. (2020), DeepAR</a:t>
            </a:r>
            <a:endParaRPr lang="en-US" sz="1100" dirty="0"/>
          </a:p>
        </p:txBody>
      </p:sp>
      <p:sp>
        <p:nvSpPr>
          <p:cNvPr id="5" name="step 1"/>
          <p:cNvSpPr/>
          <p:nvPr/>
        </p:nvSpPr>
        <p:spPr>
          <a:xfrm>
            <a:off x="548640" y="1691640"/>
            <a:ext cx="3520440" cy="3154680"/>
          </a:xfrm>
          <a:prstGeom prst="roundRect">
            <a:avLst>
              <a:gd name="adj" fmla="val 3478"/>
            </a:avLst>
          </a:prstGeom>
          <a:solidFill>
            <a:schemeClr val="bg2"/>
          </a:solidFill>
          <a:ln/>
        </p:spPr>
      </p:sp>
      <p:sp>
        <p:nvSpPr>
          <p:cNvPr id="6" name="Shape 4"/>
          <p:cNvSpPr/>
          <p:nvPr/>
        </p:nvSpPr>
        <p:spPr>
          <a:xfrm>
            <a:off x="868680" y="1965960"/>
            <a:ext cx="502920" cy="502920"/>
          </a:xfrm>
          <a:prstGeom prst="ellipse">
            <a:avLst/>
          </a:prstGeom>
          <a:solidFill>
            <a:schemeClr val="accent2"/>
          </a:solidFill>
          <a:ln/>
        </p:spPr>
      </p:sp>
      <p:sp>
        <p:nvSpPr>
          <p:cNvPr id="7" name="Text 5"/>
          <p:cNvSpPr txBox="1"/>
          <p:nvPr/>
        </p:nvSpPr>
        <p:spPr>
          <a:xfrm>
            <a:off x="868680" y="1965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868680" y="2697480"/>
            <a:ext cx="292608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DeepAR</a:t>
            </a:r>
            <a:endParaRPr lang="en-US" sz="2400" dirty="0"/>
          </a:p>
        </p:txBody>
      </p:sp>
      <p:sp>
        <p:nvSpPr>
          <p:cNvPr id="9" name="Text 7"/>
          <p:cNvSpPr txBox="1"/>
          <p:nvPr/>
        </p:nvSpPr>
        <p:spPr>
          <a:xfrm>
            <a:off x="868680" y="3246120"/>
            <a:ext cx="2926080" cy="1463040"/>
          </a:xfrm>
          <a:prstGeom prst="rect">
            <a:avLst/>
          </a:prstGeom>
          <a:noFill/>
          <a:ln/>
        </p:spPr>
        <p:txBody>
          <a:bodyPr wrap="square" lIns="0" tIns="0" rIns="0" bIns="0" rtlCol="0" anchor="t"/>
          <a:lstStyle/>
          <a:p>
            <a:pPr indent="0" marL="0">
              <a:buNone/>
            </a:pPr>
            <a:r>
              <a:rPr lang="en-US" sz="1600" dirty="0">
                <a:solidFill>
                  <a:schemeClr val="tx2"/>
                </a:solidFill>
              </a:rPr>
              <a:t>One recurrent network for all SKUs, a negative-binomial count likelihood, item embeddings, calendar and price covariates.</a:t>
            </a:r>
            <a:endParaRPr lang="en-US" sz="1600" dirty="0"/>
          </a:p>
        </p:txBody>
      </p:sp>
      <p:sp>
        <p:nvSpPr>
          <p:cNvPr id="10" name="step 2"/>
          <p:cNvSpPr/>
          <p:nvPr/>
        </p:nvSpPr>
        <p:spPr>
          <a:xfrm>
            <a:off x="4334256" y="1691640"/>
            <a:ext cx="3520440" cy="3154680"/>
          </a:xfrm>
          <a:prstGeom prst="roundRect">
            <a:avLst>
              <a:gd name="adj" fmla="val 3478"/>
            </a:avLst>
          </a:prstGeom>
          <a:solidFill>
            <a:schemeClr val="bg2"/>
          </a:solidFill>
          <a:ln/>
        </p:spPr>
      </p:sp>
      <p:sp>
        <p:nvSpPr>
          <p:cNvPr id="11" name="Shape 9"/>
          <p:cNvSpPr/>
          <p:nvPr/>
        </p:nvSpPr>
        <p:spPr>
          <a:xfrm>
            <a:off x="4654296" y="1965960"/>
            <a:ext cx="502920" cy="502920"/>
          </a:xfrm>
          <a:prstGeom prst="ellipse">
            <a:avLst/>
          </a:prstGeom>
          <a:solidFill>
            <a:schemeClr val="accent1"/>
          </a:solidFill>
          <a:ln/>
        </p:spPr>
      </p:sp>
      <p:sp>
        <p:nvSpPr>
          <p:cNvPr id="12" name="Text 10"/>
          <p:cNvSpPr txBox="1"/>
          <p:nvPr/>
        </p:nvSpPr>
        <p:spPr>
          <a:xfrm>
            <a:off x="4654296" y="1965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1"/>
          <p:cNvSpPr txBox="1"/>
          <p:nvPr/>
        </p:nvSpPr>
        <p:spPr>
          <a:xfrm>
            <a:off x="4654296" y="2697480"/>
            <a:ext cx="292608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Hybrid</a:t>
            </a:r>
            <a:endParaRPr lang="en-US" sz="2400" dirty="0"/>
          </a:p>
        </p:txBody>
      </p:sp>
      <p:sp>
        <p:nvSpPr>
          <p:cNvPr id="14" name="Text 12"/>
          <p:cNvSpPr txBox="1"/>
          <p:nvPr/>
        </p:nvSpPr>
        <p:spPr>
          <a:xfrm>
            <a:off x="4654296" y="3246120"/>
            <a:ext cx="2926080" cy="1463040"/>
          </a:xfrm>
          <a:prstGeom prst="rect">
            <a:avLst/>
          </a:prstGeom>
          <a:noFill/>
          <a:ln/>
        </p:spPr>
        <p:txBody>
          <a:bodyPr wrap="square" lIns="0" tIns="0" rIns="0" bIns="0" rtlCol="0" anchor="t"/>
          <a:lstStyle/>
          <a:p>
            <a:pPr indent="0" marL="0">
              <a:buNone/>
            </a:pPr>
            <a:r>
              <a:rPr lang="en-US" sz="1600" dirty="0">
                <a:solidFill>
                  <a:schemeClr val="tx2"/>
                </a:solidFill>
              </a:rPr>
              <a:t>Feed the Kalman filter’s level, seasonal effect and state variance to the network: local adaptation plus global sharing.</a:t>
            </a:r>
            <a:endParaRPr lang="en-US" sz="1600" dirty="0"/>
          </a:p>
        </p:txBody>
      </p:sp>
      <p:sp>
        <p:nvSpPr>
          <p:cNvPr id="15" name="step 3"/>
          <p:cNvSpPr/>
          <p:nvPr/>
        </p:nvSpPr>
        <p:spPr>
          <a:xfrm>
            <a:off x="8119872" y="1691640"/>
            <a:ext cx="3520440" cy="3154680"/>
          </a:xfrm>
          <a:prstGeom prst="roundRect">
            <a:avLst>
              <a:gd name="adj" fmla="val 3478"/>
            </a:avLst>
          </a:prstGeom>
          <a:solidFill>
            <a:schemeClr val="bg2"/>
          </a:solidFill>
          <a:ln/>
        </p:spPr>
      </p:sp>
      <p:sp>
        <p:nvSpPr>
          <p:cNvPr id="16" name="Shape 14"/>
          <p:cNvSpPr/>
          <p:nvPr/>
        </p:nvSpPr>
        <p:spPr>
          <a:xfrm>
            <a:off x="8439912" y="1965960"/>
            <a:ext cx="502920" cy="502920"/>
          </a:xfrm>
          <a:prstGeom prst="ellipse">
            <a:avLst/>
          </a:prstGeom>
          <a:solidFill>
            <a:schemeClr val="tx1"/>
          </a:solidFill>
          <a:ln/>
        </p:spPr>
      </p:sp>
      <p:sp>
        <p:nvSpPr>
          <p:cNvPr id="17" name="Text 15"/>
          <p:cNvSpPr txBox="1"/>
          <p:nvPr/>
        </p:nvSpPr>
        <p:spPr>
          <a:xfrm>
            <a:off x="8439912" y="1965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6"/>
          <p:cNvSpPr txBox="1"/>
          <p:nvPr/>
        </p:nvSpPr>
        <p:spPr>
          <a:xfrm>
            <a:off x="8439912" y="2697480"/>
            <a:ext cx="292608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Same harness</a:t>
            </a:r>
            <a:endParaRPr lang="en-US" sz="2400" dirty="0"/>
          </a:p>
        </p:txBody>
      </p:sp>
      <p:sp>
        <p:nvSpPr>
          <p:cNvPr id="19" name="Text 17"/>
          <p:cNvSpPr txBox="1"/>
          <p:nvPr/>
        </p:nvSpPr>
        <p:spPr>
          <a:xfrm>
            <a:off x="8439912" y="3246120"/>
            <a:ext cx="2926080" cy="1463040"/>
          </a:xfrm>
          <a:prstGeom prst="rect">
            <a:avLst/>
          </a:prstGeom>
          <a:noFill/>
          <a:ln/>
        </p:spPr>
        <p:txBody>
          <a:bodyPr wrap="square" lIns="0" tIns="0" rIns="0" bIns="0" rtlCol="0" anchor="t"/>
          <a:lstStyle/>
          <a:p>
            <a:pPr indent="0" marL="0">
              <a:buNone/>
            </a:pPr>
            <a:r>
              <a:rPr lang="en-US" sz="1600" dirty="0">
                <a:solidFill>
                  <a:schemeClr val="tx2"/>
                </a:solidFill>
              </a:rPr>
              <a:t>Identical origins, cells, metrics and segments; ablations with and without the Kalman features.</a:t>
            </a:r>
            <a:endParaRPr lang="en-US" sz="1600" dirty="0"/>
          </a:p>
        </p:txBody>
      </p:sp>
      <p:sp>
        <p:nvSpPr>
          <p:cNvPr id="20" name="Text 18"/>
          <p:cNvSpPr txBox="1"/>
          <p:nvPr/>
        </p:nvSpPr>
        <p:spPr>
          <a:xfrm>
            <a:off x="548640" y="5212080"/>
            <a:ext cx="11094415" cy="457200"/>
          </a:xfrm>
          <a:prstGeom prst="rect">
            <a:avLst/>
          </a:prstGeom>
          <a:noFill/>
          <a:ln/>
        </p:spPr>
        <p:txBody>
          <a:bodyPr wrap="square" lIns="0" tIns="0" rIns="0" bIns="0" rtlCol="0" anchor="t"/>
          <a:lstStyle/>
          <a:p>
            <a:pPr indent="0" marL="0">
              <a:buNone/>
            </a:pPr>
            <a:r>
              <a:rPr lang="en-US" sz="2000" b="1" dirty="0">
                <a:solidFill>
                  <a:schemeClr val="tx1"/>
                </a:solidFill>
              </a:rPr>
              <a:t>Success test: </a:t>
            </a:r>
            <a:pPr indent="0" marL="0">
              <a:buNone/>
            </a:pPr>
            <a:r>
              <a:rPr lang="en-US" sz="2000" dirty="0">
                <a:solidFill>
                  <a:schemeClr val="tx2"/>
                </a:solidFill>
              </a:rPr>
              <a:t>close the cold-start and intermittent gap while keeping the filter’s calibration.</a:t>
            </a:r>
            <a:endParaRPr lang="en-US" sz="2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292608"/>
          </a:xfrm>
          <a:prstGeom prst="rect">
            <a:avLst/>
          </a:prstGeom>
          <a:noFill/>
          <a:ln/>
        </p:spPr>
        <p:txBody>
          <a:bodyPr wrap="square" lIns="0" tIns="0" rIns="0" bIns="0" rtlCol="0"/>
          <a:lstStyle/>
          <a:p>
            <a:pPr algn="l" indent="0" marL="0">
              <a:buNone/>
            </a:pPr>
            <a:r>
              <a:rPr lang="en-US" sz="1300" b="1" spc="200" kern="0" dirty="0">
                <a:solidFill>
                  <a:schemeClr val="accent1"/>
                </a:solidFill>
              </a:rPr>
              <a:t>TEAM</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400" b="1" dirty="0">
                <a:solidFill>
                  <a:schemeClr val="tx1"/>
                </a:solidFill>
              </a:rPr>
              <a:t>Who built what</a:t>
            </a:r>
            <a:endParaRPr lang="en-US" sz="3400" dirty="0"/>
          </a:p>
        </p:txBody>
      </p:sp>
      <p:sp>
        <p:nvSpPr>
          <p:cNvPr id="4" name="Text 1"/>
          <p:cNvSpPr/>
          <p:nvPr>
            <p:ph idx="103" type="body" hasCustomPrompt="1"/>
          </p:nvPr>
        </p:nvSpPr>
        <p:spPr>
          <a:xfrm>
            <a:off x="2286000" y="6382512"/>
            <a:ext cx="8595360" cy="274320"/>
          </a:xfrm>
          <a:prstGeom prst="rect">
            <a:avLst/>
          </a:prstGeom>
          <a:noFill/>
          <a:ln/>
        </p:spPr>
        <p:txBody>
          <a:bodyPr wrap="square" lIns="0" tIns="0" rIns="0" bIns="0" rtlCol="0"/>
          <a:lstStyle/>
          <a:p>
            <a:pPr algn="l" indent="0" marL="0">
              <a:buNone/>
            </a:pPr>
            <a:r>
              <a:rPr lang="en-US" sz="1100" dirty="0">
                <a:solidFill>
                  <a:schemeClr val="tx2"/>
                </a:solidFill>
              </a:rPr>
              <a:t>Viva notes per module: docs/viva_notes.md</a:t>
            </a:r>
            <a:endParaRPr lang="en-US" sz="1100" dirty="0"/>
          </a:p>
        </p:txBody>
      </p:sp>
      <p:graphicFrame>
        <p:nvGraphicFramePr>
          <p:cNvPr id="18" name="team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828800"/>
                <a:gridCol w="3749040"/>
                <a:gridCol w="5516575"/>
              </a:tblGrid>
              <a:tr h="566928">
                <a:tc>
                  <a:txBody>
                    <a:bodyPr/>
                    <a:lstStyle/>
                    <a:p>
                      <a:pPr indent="0" marL="0">
                        <a:buNone/>
                      </a:pPr>
                      <a:r>
                        <a:rPr lang="en-US" sz="1700" b="1" dirty="0">
                          <a:solidFill>
                            <a:schemeClr val="tx1"/>
                          </a:solidFill>
                        </a:rPr>
                        <a:t>Member</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solidFill>
                      <a:schemeClr val="bg2"/>
                    </a:solidFill>
                  </a:tcPr>
                </a:tc>
                <a:tc>
                  <a:txBody>
                    <a:bodyPr/>
                    <a:lstStyle/>
                    <a:p>
                      <a:pPr indent="0" marL="0">
                        <a:buNone/>
                      </a:pPr>
                      <a:r>
                        <a:rPr lang="en-US" sz="1700" b="1" dirty="0">
                          <a:solidFill>
                            <a:schemeClr val="tx1"/>
                          </a:solidFill>
                        </a:rPr>
                        <a:t>Module</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solidFill>
                      <a:schemeClr val="bg2"/>
                    </a:solidFill>
                  </a:tcPr>
                </a:tc>
                <a:tc>
                  <a:txBody>
                    <a:bodyPr/>
                    <a:lstStyle/>
                    <a:p>
                      <a:pPr indent="0" marL="0">
                        <a:buNone/>
                      </a:pPr>
                      <a:r>
                        <a:rPr lang="en-US" sz="1700" b="1" dirty="0">
                          <a:solidFill>
                            <a:schemeClr val="tx1"/>
                          </a:solidFill>
                        </a:rPr>
                        <a:t>Code &amp; notebook</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solidFill>
                      <a:schemeClr val="bg2"/>
                    </a:solidFill>
                  </a:tcPr>
                </a:tc>
              </a:tr>
              <a:tr h="566928">
                <a:tc>
                  <a:txBody>
                    <a:bodyPr/>
                    <a:lstStyle/>
                    <a:p>
                      <a:pPr indent="0" marL="0">
                        <a:buNone/>
                      </a:pPr>
                      <a:r>
                        <a:rPr lang="en-US" sz="1700" dirty="0">
                          <a:solidFill>
                            <a:schemeClr val="tx2"/>
                          </a:solidFill>
                        </a:rPr>
                        <a:t>[Member 1]</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indent="0" marL="0">
                        <a:buNone/>
                      </a:pPr>
                      <a:r>
                        <a:rPr lang="en-US" sz="1700" dirty="0">
                          <a:solidFill>
                            <a:schemeClr val="tx2"/>
                          </a:solidFill>
                        </a:rPr>
                        <a:t>Data pipeline, sampling, EDA</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indent="0" marL="0">
                        <a:buNone/>
                      </a:pPr>
                      <a:r>
                        <a:rPr lang="en-US" sz="1700" dirty="0">
                          <a:solidFill>
                            <a:schemeClr val="tx2"/>
                          </a:solidFill>
                        </a:rPr>
                        <a:t>data.py, sampling.py · 01_eda</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r>
              <a:tr h="566928">
                <a:tc>
                  <a:txBody>
                    <a:bodyPr/>
                    <a:lstStyle/>
                    <a:p>
                      <a:pPr indent="0" marL="0">
                        <a:buNone/>
                      </a:pPr>
                      <a:r>
                        <a:rPr lang="en-US" sz="1700" dirty="0">
                          <a:solidFill>
                            <a:schemeClr val="tx2"/>
                          </a:solidFill>
                        </a:rPr>
                        <a:t>[Member 2]</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indent="0" marL="0">
                        <a:buNone/>
                      </a:pPr>
                      <a:r>
                        <a:rPr lang="en-US" sz="1700" dirty="0">
                          <a:solidFill>
                            <a:schemeClr val="tx2"/>
                          </a:solidFill>
                        </a:rPr>
                        <a:t>Stockout marking, cold start</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indent="0" marL="0">
                        <a:buNone/>
                      </a:pPr>
                      <a:r>
                        <a:rPr lang="en-US" sz="1700" dirty="0">
                          <a:solidFill>
                            <a:schemeClr val="tx2"/>
                          </a:solidFill>
                        </a:rPr>
                        <a:t>stockout.py · 02_stockouts_coldstart</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r>
              <a:tr h="566928">
                <a:tc>
                  <a:txBody>
                    <a:bodyPr/>
                    <a:lstStyle/>
                    <a:p>
                      <a:pPr indent="0" marL="0">
                        <a:buNone/>
                      </a:pPr>
                      <a:r>
                        <a:rPr lang="en-US" sz="1700" dirty="0">
                          <a:solidFill>
                            <a:schemeClr val="tx2"/>
                          </a:solidFill>
                        </a:rPr>
                        <a:t>[Member 3]</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indent="0" marL="0">
                        <a:buNone/>
                      </a:pPr>
                      <a:r>
                        <a:rPr lang="en-US" sz="1700" dirty="0">
                          <a:solidFill>
                            <a:schemeClr val="tx2"/>
                          </a:solidFill>
                        </a:rPr>
                        <a:t>Kalman filter, local baselines</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indent="0" marL="0">
                        <a:buNone/>
                      </a:pPr>
                      <a:r>
                        <a:rPr lang="en-US" sz="1700" dirty="0">
                          <a:solidFill>
                            <a:schemeClr val="tx2"/>
                          </a:solidFill>
                        </a:rPr>
                        <a:t>models/kalman.py, naive.py, croston.py · 03_kalman</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r>
              <a:tr h="566928">
                <a:tc>
                  <a:txBody>
                    <a:bodyPr/>
                    <a:lstStyle/>
                    <a:p>
                      <a:pPr indent="0" marL="0">
                        <a:buNone/>
                      </a:pPr>
                      <a:r>
                        <a:rPr lang="en-US" sz="1700" dirty="0">
                          <a:solidFill>
                            <a:schemeClr val="tx2"/>
                          </a:solidFill>
                        </a:rPr>
                        <a:t>[Member 4]</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indent="0" marL="0">
                        <a:buNone/>
                      </a:pPr>
                      <a:r>
                        <a:rPr lang="en-US" sz="1700" dirty="0">
                          <a:solidFill>
                            <a:schemeClr val="tx2"/>
                          </a:solidFill>
                        </a:rPr>
                        <a:t>Features, global LightGBM</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indent="0" marL="0">
                        <a:buNone/>
                      </a:pPr>
                      <a:r>
                        <a:rPr lang="en-US" sz="1700" dirty="0">
                          <a:solidFill>
                            <a:schemeClr val="tx2"/>
                          </a:solidFill>
                        </a:rPr>
                        <a:t>features.py, models/gbm.py · leakage test</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r>
              <a:tr h="566928">
                <a:tc>
                  <a:txBody>
                    <a:bodyPr/>
                    <a:lstStyle/>
                    <a:p>
                      <a:pPr indent="0" marL="0">
                        <a:buNone/>
                      </a:pPr>
                      <a:r>
                        <a:rPr lang="en-US" sz="1700" dirty="0">
                          <a:solidFill>
                            <a:schemeClr val="tx2"/>
                          </a:solidFill>
                        </a:rPr>
                        <a:t>[Member 5]</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indent="0" marL="0">
                        <a:buNone/>
                      </a:pPr>
                      <a:r>
                        <a:rPr lang="en-US" sz="1700" dirty="0">
                          <a:solidFill>
                            <a:schemeClr val="tx2"/>
                          </a:solidFill>
                        </a:rPr>
                        <a:t>Backtest, metrics, tests, report</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c>
                  <a:txBody>
                    <a:bodyPr/>
                    <a:lstStyle/>
                    <a:p>
                      <a:pPr indent="0" marL="0">
                        <a:buNone/>
                      </a:pPr>
                      <a:r>
                        <a:rPr lang="en-US" sz="1700" dirty="0">
                          <a:solidFill>
                            <a:schemeClr val="tx2"/>
                          </a:solidFill>
                        </a:rPr>
                        <a:t>backtest.py, metrics.py, stats_tests.py · 04_results</a:t>
                      </a:r>
                      <a:endParaRPr lang="en-US" sz="1700" dirty="0"/>
                    </a:p>
                  </a:txBody>
                  <a:tcPr marL="91440" marR="91440" marT="91440" marB="91440">
                    <a:lnL w="9525" cap="flat" cmpd="sng" algn="ctr">
                      <a:solidFill>
                        <a:srgbClr val="E4E3DF"/>
                      </a:solidFill>
                      <a:prstDash val="solid"/>
                      <a:round/>
                      <a:headEnd type="none" w="med" len="med"/>
                      <a:tailEnd type="none" w="med" len="med"/>
                    </a:lnL>
                    <a:lnR w="9525" cap="flat" cmpd="sng" algn="ctr">
                      <a:solidFill>
                        <a:srgbClr val="E4E3DF"/>
                      </a:solidFill>
                      <a:prstDash val="solid"/>
                      <a:round/>
                      <a:headEnd type="none" w="med" len="med"/>
                      <a:tailEnd type="none" w="med" len="med"/>
                    </a:lnR>
                    <a:lnT w="9525" cap="flat" cmpd="sng" algn="ctr">
                      <a:solidFill>
                        <a:srgbClr val="E4E3DF"/>
                      </a:solidFill>
                      <a:prstDash val="solid"/>
                      <a:round/>
                      <a:headEnd type="none" w="med" len="med"/>
                      <a:tailEnd type="none" w="med" len="med"/>
                    </a:lnT>
                    <a:lnB w="9525" cap="flat" cmpd="sng" algn="ctr">
                      <a:solidFill>
                        <a:srgbClr val="E4E3D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9144000" cy="365760"/>
          </a:xfrm>
          <a:prstGeom prst="rect">
            <a:avLst/>
          </a:prstGeom>
          <a:noFill/>
          <a:ln/>
        </p:spPr>
        <p:txBody>
          <a:bodyPr wrap="square" lIns="0" tIns="0" rIns="0" bIns="0" rtlCol="0"/>
          <a:lstStyle/>
          <a:p>
            <a:pPr algn="l" indent="0" marL="0">
              <a:buNone/>
            </a:pPr>
            <a:r>
              <a:rPr lang="en-US" sz="1400" b="1" spc="300" kern="0" dirty="0">
                <a:solidFill>
                  <a:schemeClr val="bg2"/>
                </a:solidFill>
              </a:rPr>
              <a:t>REPRODUCIBLE END TO END</a:t>
            </a:r>
            <a:endParaRPr lang="en-US" sz="1400" dirty="0"/>
          </a:p>
        </p:txBody>
      </p:sp>
      <p:sp>
        <p:nvSpPr>
          <p:cNvPr id="3" name="Text 0"/>
          <p:cNvSpPr/>
          <p:nvPr>
            <p:ph idx="101" type="title" hasCustomPrompt="1"/>
          </p:nvPr>
        </p:nvSpPr>
        <p:spPr>
          <a:xfrm>
            <a:off x="548640" y="1645920"/>
            <a:ext cx="10515600" cy="2011680"/>
          </a:xfrm>
          <a:prstGeom prst="rect">
            <a:avLst/>
          </a:prstGeom>
          <a:noFill/>
          <a:ln/>
        </p:spPr>
        <p:txBody>
          <a:bodyPr wrap="square" lIns="0" tIns="0" rIns="0" bIns="0" rtlCol="0" anchor="t"/>
          <a:lstStyle/>
          <a:p>
            <a:pPr algn="l" indent="0" marL="0">
              <a:buNone/>
            </a:pPr>
            <a:r>
              <a:rPr lang="en-US" sz="5400" b="1" dirty="0">
                <a:solidFill>
                  <a:schemeClr val="bg1"/>
                </a:solidFill>
              </a:rPr>
              <a:t>Questions?</a:t>
            </a:r>
            <a:endParaRPr lang="en-US" sz="5400" dirty="0"/>
          </a:p>
        </p:txBody>
      </p:sp>
      <p:sp>
        <p:nvSpPr>
          <p:cNvPr id="4" name="commands"/>
          <p:cNvSpPr/>
          <p:nvPr/>
        </p:nvSpPr>
        <p:spPr>
          <a:xfrm>
            <a:off x="548640" y="3063240"/>
            <a:ext cx="11094415" cy="777240"/>
          </a:xfrm>
          <a:prstGeom prst="roundRect">
            <a:avLst>
              <a:gd name="adj" fmla="val 14118"/>
            </a:avLst>
          </a:prstGeom>
          <a:solidFill>
            <a:srgbClr val="22335A"/>
          </a:solidFill>
          <a:ln/>
        </p:spPr>
      </p:sp>
      <p:sp>
        <p:nvSpPr>
          <p:cNvPr id="5" name="Text 3"/>
          <p:cNvSpPr txBox="1"/>
          <p:nvPr/>
        </p:nvSpPr>
        <p:spPr>
          <a:xfrm>
            <a:off x="868680" y="3200400"/>
            <a:ext cx="10545775" cy="502920"/>
          </a:xfrm>
          <a:prstGeom prst="rect">
            <a:avLst/>
          </a:prstGeom>
          <a:noFill/>
          <a:ln/>
        </p:spPr>
        <p:txBody>
          <a:bodyPr wrap="square" lIns="0" tIns="0" rIns="0" bIns="0" rtlCol="0" anchor="ctr"/>
          <a:lstStyle/>
          <a:p>
            <a:pPr indent="0" marL="0">
              <a:buNone/>
            </a:pPr>
            <a:r>
              <a:rPr lang="en-US" sz="1800" dirty="0">
                <a:solidFill>
                  <a:schemeClr val="bg1"/>
                </a:solidFill>
                <a:latin typeface="Courier New" pitchFamily="34" charset="0"/>
                <a:ea typeface="Courier New" pitchFamily="34" charset="-122"/>
                <a:cs typeface="Courier New" pitchFamily="34" charset="-120"/>
              </a:rPr>
              <a:t>make data  →  make test  →  make backtest  →  make assets</a:t>
            </a:r>
            <a:endParaRPr lang="en-US" sz="1800" dirty="0"/>
          </a:p>
        </p:txBody>
      </p:sp>
      <p:sp>
        <p:nvSpPr>
          <p:cNvPr id="6" name="Text 4"/>
          <p:cNvSpPr txBox="1"/>
          <p:nvPr/>
        </p:nvSpPr>
        <p:spPr>
          <a:xfrm>
            <a:off x="548640" y="4251960"/>
            <a:ext cx="2560320" cy="68580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18</a:t>
            </a:r>
            <a:endParaRPr lang="en-US" sz="4000" dirty="0"/>
          </a:p>
        </p:txBody>
      </p:sp>
      <p:sp>
        <p:nvSpPr>
          <p:cNvPr id="7" name="Text 5"/>
          <p:cNvSpPr txBox="1"/>
          <p:nvPr/>
        </p:nvSpPr>
        <p:spPr>
          <a:xfrm>
            <a:off x="548640" y="4983480"/>
            <a:ext cx="2560320" cy="365760"/>
          </a:xfrm>
          <a:prstGeom prst="rect">
            <a:avLst/>
          </a:prstGeom>
          <a:noFill/>
          <a:ln/>
        </p:spPr>
        <p:txBody>
          <a:bodyPr wrap="square" lIns="0" tIns="0" rIns="0" bIns="0" rtlCol="0" anchor="t"/>
          <a:lstStyle/>
          <a:p>
            <a:pPr indent="0" marL="0">
              <a:buNone/>
            </a:pPr>
            <a:r>
              <a:rPr lang="en-US" sz="1500" dirty="0">
                <a:solidFill>
                  <a:schemeClr val="bg2"/>
                </a:solidFill>
              </a:rPr>
              <a:t>unit tests</a:t>
            </a:r>
            <a:endParaRPr lang="en-US" sz="1500" dirty="0"/>
          </a:p>
        </p:txBody>
      </p:sp>
      <p:sp>
        <p:nvSpPr>
          <p:cNvPr id="8" name="Text 6"/>
          <p:cNvSpPr txBox="1"/>
          <p:nvPr/>
        </p:nvSpPr>
        <p:spPr>
          <a:xfrm>
            <a:off x="3383280" y="4251960"/>
            <a:ext cx="2560320" cy="68580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20 min</a:t>
            </a:r>
            <a:endParaRPr lang="en-US" sz="4000" dirty="0"/>
          </a:p>
        </p:txBody>
      </p:sp>
      <p:sp>
        <p:nvSpPr>
          <p:cNvPr id="9" name="Text 7"/>
          <p:cNvSpPr txBox="1"/>
          <p:nvPr/>
        </p:nvSpPr>
        <p:spPr>
          <a:xfrm>
            <a:off x="3383280" y="4983480"/>
            <a:ext cx="2560320" cy="365760"/>
          </a:xfrm>
          <a:prstGeom prst="rect">
            <a:avLst/>
          </a:prstGeom>
          <a:noFill/>
          <a:ln/>
        </p:spPr>
        <p:txBody>
          <a:bodyPr wrap="square" lIns="0" tIns="0" rIns="0" bIns="0" rtlCol="0" anchor="t"/>
          <a:lstStyle/>
          <a:p>
            <a:pPr indent="0" marL="0">
              <a:buNone/>
            </a:pPr>
            <a:r>
              <a:rPr lang="en-US" sz="1500" dirty="0">
                <a:solidFill>
                  <a:schemeClr val="bg2"/>
                </a:solidFill>
              </a:rPr>
              <a:t>full backtest on a laptop</a:t>
            </a:r>
            <a:endParaRPr lang="en-US" sz="1500" dirty="0"/>
          </a:p>
        </p:txBody>
      </p:sp>
      <p:sp>
        <p:nvSpPr>
          <p:cNvPr id="10" name="Text 8"/>
          <p:cNvSpPr txBox="1"/>
          <p:nvPr/>
        </p:nvSpPr>
        <p:spPr>
          <a:xfrm>
            <a:off x="6217920" y="4251960"/>
            <a:ext cx="2560320" cy="68580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4</a:t>
            </a:r>
            <a:endParaRPr lang="en-US" sz="4000" dirty="0"/>
          </a:p>
        </p:txBody>
      </p:sp>
      <p:sp>
        <p:nvSpPr>
          <p:cNvPr id="11" name="Text 9"/>
          <p:cNvSpPr txBox="1"/>
          <p:nvPr/>
        </p:nvSpPr>
        <p:spPr>
          <a:xfrm>
            <a:off x="6217920" y="4983480"/>
            <a:ext cx="2560320" cy="365760"/>
          </a:xfrm>
          <a:prstGeom prst="rect">
            <a:avLst/>
          </a:prstGeom>
          <a:noFill/>
          <a:ln/>
        </p:spPr>
        <p:txBody>
          <a:bodyPr wrap="square" lIns="0" tIns="0" rIns="0" bIns="0" rtlCol="0" anchor="t"/>
          <a:lstStyle/>
          <a:p>
            <a:pPr indent="0" marL="0">
              <a:buNone/>
            </a:pPr>
            <a:r>
              <a:rPr lang="en-US" sz="1500" dirty="0">
                <a:solidFill>
                  <a:schemeClr val="bg2"/>
                </a:solidFill>
              </a:rPr>
              <a:t>executed notebooks</a:t>
            </a:r>
            <a:endParaRPr lang="en-US" sz="1500" dirty="0"/>
          </a:p>
        </p:txBody>
      </p:sp>
      <p:sp>
        <p:nvSpPr>
          <p:cNvPr id="12" name="Text 10"/>
          <p:cNvSpPr txBox="1"/>
          <p:nvPr/>
        </p:nvSpPr>
        <p:spPr>
          <a:xfrm>
            <a:off x="9052560" y="4251960"/>
            <a:ext cx="2560320" cy="68580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1</a:t>
            </a:r>
            <a:endParaRPr lang="en-US" sz="4000" dirty="0"/>
          </a:p>
        </p:txBody>
      </p:sp>
      <p:sp>
        <p:nvSpPr>
          <p:cNvPr id="13" name="Text 11"/>
          <p:cNvSpPr txBox="1"/>
          <p:nvPr/>
        </p:nvSpPr>
        <p:spPr>
          <a:xfrm>
            <a:off x="9052560" y="4983480"/>
            <a:ext cx="2560320" cy="365760"/>
          </a:xfrm>
          <a:prstGeom prst="rect">
            <a:avLst/>
          </a:prstGeom>
          <a:noFill/>
          <a:ln/>
        </p:spPr>
        <p:txBody>
          <a:bodyPr wrap="square" lIns="0" tIns="0" rIns="0" bIns="0" rtlCol="0" anchor="t"/>
          <a:lstStyle/>
          <a:p>
            <a:pPr indent="0" marL="0">
              <a:buNone/>
            </a:pPr>
            <a:r>
              <a:rPr lang="en-US" sz="1500" dirty="0">
                <a:solidFill>
                  <a:schemeClr val="bg2"/>
                </a:solidFill>
              </a:rPr>
              <a:t>IEEE report, auto-filled</a:t>
            </a:r>
            <a:endParaRPr lang="en-US" sz="1500" dirty="0"/>
          </a:p>
        </p:txBody>
      </p:sp>
      <p:sp>
        <p:nvSpPr>
          <p:cNvPr id="15" name="Text 0"/>
          <p:cNvSpPr/>
          <p:nvPr>
            <p:ph idx="102" type="body" hasCustomPrompt="1"/>
          </p:nvPr>
        </p:nvSpPr>
        <p:spPr>
          <a:xfrm>
            <a:off x="548640" y="3840480"/>
            <a:ext cx="9601200" cy="1463040"/>
          </a:xfrm>
          <a:prstGeom prst="rect">
            <a:avLst/>
          </a:prstGeom>
          <a:noFill/>
          <a:ln/>
        </p:spPr>
        <p:txBody>
          <a:bodyPr wrap="square" lIns="0" tIns="0" rIns="0" bIns="0" rtlCol="0" anchor="t"/>
          <a:lstStyle/>
          <a:p>
            <a:pPr algn="l" indent="0" marL="0">
              <a:buNone/>
            </a:pPr>
            <a:endParaRPr lang="en-US" sz="2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PRISM">
      <a:dk1>
        <a:srgbClr val="14213D"/>
      </a:dk1>
      <a:lt1>
        <a:srgbClr val="FFFFFF"/>
      </a:lt1>
      <a:dk2>
        <a:srgbClr val="3D4A5C"/>
      </a:dk2>
      <a:lt2>
        <a:srgbClr val="F2F4F8"/>
      </a:lt2>
      <a:accent1>
        <a:srgbClr val="2A78D6"/>
      </a:accent1>
      <a:accent2>
        <a:srgbClr val="EB6834"/>
      </a:accent2>
      <a:accent3>
        <a:srgbClr val="1BAF7A"/>
      </a:accent3>
      <a:accent4>
        <a:srgbClr val="9A9994"/>
      </a:accent4>
      <a:accent5>
        <a:srgbClr val="6250D6"/>
      </a:accent5>
      <a:accent6>
        <a:srgbClr val="B4441A"/>
      </a:accent6>
      <a:hlink>
        <a:srgbClr val="1F5FAF"/>
      </a:hlink>
      <a:folHlink>
        <a:srgbClr val="6250D6"/>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PRISM: Phase 1</dc:title>
  <dc:subject>PptxGenJS Presentation</dc:subject>
  <dc:creator>PRISM team</dc:creator>
  <cp:lastModifiedBy>PRISM team</cp:lastModifiedBy>
  <cp:revision>1</cp:revision>
  <dcterms:created xsi:type="dcterms:W3CDTF">2026-10-22T08:31:04Z</dcterms:created>
  <dcterms:modified xsi:type="dcterms:W3CDTF">2026-10-22T08:31:04Z</dcterms:modified>
</cp:coreProperties>
</file>